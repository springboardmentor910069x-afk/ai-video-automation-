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4484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284C7"/>
                </a:solidFill>
              </a:defRPr>
            </a:pPr>
            <a:r>
              <a:t>INFOSYS SPRINGBOARD INTERNSHIP PROJECT</a:t>
            </a:r>
          </a:p>
          <a:p>
            <a:pPr>
              <a:spcAft>
                <a:spcPts val="1600"/>
              </a:spcAft>
              <a:defRPr sz="3200" b="1">
                <a:solidFill>
                  <a:srgbClr val="1E3A8A"/>
                </a:solidFill>
              </a:defRPr>
            </a:pPr>
            <a:r>
              <a:t>ClipMind AI: Video Summarization &amp;</a:t>
            </a:r>
            <a:br/>
            <a:r>
              <a:t>Key Moments Detection Platform</a:t>
            </a:r>
          </a:p>
          <a:p>
            <a:pPr>
              <a:spcAft>
                <a:spcPts val="2800"/>
              </a:spcAft>
              <a:defRPr sz="1400">
                <a:solidFill>
                  <a:srgbClr val="1E293B"/>
                </a:solidFill>
              </a:defRPr>
            </a:pPr>
            <a:r>
              <a:t>An Enterprise-Grade, Multimodal AI Platform for Video Comprehension &amp; Educational Intelligence</a:t>
            </a:r>
          </a:p>
          <a:p>
            <a:pPr>
              <a:defRPr sz="1300" b="1">
                <a:solidFill>
                  <a:srgbClr val="1E3A8A"/>
                </a:solidFill>
              </a:defRPr>
            </a:pPr>
            <a:r>
              <a:t>Developer: Adabala Venkata Thrinadh  |  Course: B.Tech in CSE (Batch 2024–2028)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Institution: GMR Institute of Technology, Rajam  |  Version: 1.0 Production Release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1. Problem Statement &amp; Industry Motivation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E3A8A"/>
                </a:solidFill>
              </a:defRPr>
            </a:pPr>
            <a:r>
              <a:t>The Pain Points in Video Consumption</a:t>
            </a:r>
          </a:p>
          <a:p>
            <a:pPr>
              <a:spcAft>
                <a:spcPts val="800"/>
              </a:spcAft>
              <a:defRPr b="1" sz="1200">
                <a:solidFill>
                  <a:srgbClr val="1E3A8A"/>
                </a:solidFill>
              </a:defRPr>
            </a:pPr>
            <a:r>
              <a:t>• Linear Scrubbing Friction: </a:t>
            </a:r>
            <a:r>
              <a:rPr b="0" sz="1100">
                <a:solidFill>
                  <a:srgbClr val="1E293B"/>
                </a:solidFill>
              </a:rPr>
              <a:t>Videos are continuous temporal streams. Finding a 2-minute explanation inside a 60-minute lecture forces users to guess timestamps, wasting up to 80% of study time.</a:t>
            </a:r>
          </a:p>
          <a:p>
            <a:pPr>
              <a:spcAft>
                <a:spcPts val="800"/>
              </a:spcAft>
              <a:defRPr b="1" sz="1200">
                <a:solidFill>
                  <a:srgbClr val="1E3A8A"/>
                </a:solidFill>
              </a:defRPr>
            </a:pPr>
            <a:r>
              <a:t>• No In-Video Semantic Search: </a:t>
            </a:r>
            <a:r>
              <a:rPr b="0" sz="1100">
                <a:solidFill>
                  <a:srgbClr val="1E293B"/>
                </a:solidFill>
              </a:rPr>
              <a:t>Standard players cannot search through spoken concepts, definitions, or slide formulas.</a:t>
            </a:r>
          </a:p>
          <a:p>
            <a:pPr>
              <a:spcAft>
                <a:spcPts val="800"/>
              </a:spcAft>
              <a:defRPr b="1" sz="1200">
                <a:solidFill>
                  <a:srgbClr val="1E3A8A"/>
                </a:solidFill>
              </a:defRPr>
            </a:pPr>
            <a:r>
              <a:t>• High Authoring Burden: </a:t>
            </a:r>
            <a:r>
              <a:rPr b="0" sz="1100">
                <a:solidFill>
                  <a:srgbClr val="1E293B"/>
                </a:solidFill>
              </a:rPr>
              <a:t>Teachers spend hours manually transcribing lectures, timestamping chapters, and drafting assessments.</a:t>
            </a:r>
          </a:p>
          <a:p>
            <a:pPr>
              <a:spcAft>
                <a:spcPts val="800"/>
              </a:spcAft>
              <a:defRPr b="1" sz="1200">
                <a:solidFill>
                  <a:srgbClr val="1E3A8A"/>
                </a:solidFill>
              </a:defRPr>
            </a:pPr>
            <a:r>
              <a:t>• Passive Cognitive Decay: </a:t>
            </a:r>
            <a:r>
              <a:rPr b="0" sz="1100">
                <a:solidFill>
                  <a:srgbClr val="1E293B"/>
                </a:solidFill>
              </a:rPr>
              <a:t>Passive video watching yields low retention compared to active recall testing.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284C7"/>
                </a:solidFill>
              </a:defRPr>
            </a:pPr>
            <a:r>
              <a:t>The ClipMind AI Solution</a:t>
            </a:r>
          </a:p>
          <a:p>
            <a:pPr>
              <a:spcAft>
                <a:spcPts val="800"/>
              </a:spcAft>
              <a:defRPr b="1" sz="1200">
                <a:solidFill>
                  <a:srgbClr val="0284C7"/>
                </a:solidFill>
              </a:defRPr>
            </a:pPr>
            <a:r>
              <a:t>✓ Sub-Second Speech-to-Text: </a:t>
            </a:r>
            <a:r>
              <a:rPr b="0" sz="1100">
                <a:solidFill>
                  <a:srgbClr val="1E293B"/>
                </a:solidFill>
              </a:rPr>
              <a:t>Whisper STT generates word-level synchronized transcripts with &lt; 4.2% Word Error Rate.</a:t>
            </a:r>
          </a:p>
          <a:p>
            <a:pPr>
              <a:spcAft>
                <a:spcPts val="800"/>
              </a:spcAft>
              <a:defRPr b="1" sz="1200">
                <a:solidFill>
                  <a:srgbClr val="0284C7"/>
                </a:solidFill>
              </a:defRPr>
            </a:pPr>
            <a:r>
              <a:t>✓ Dual-Tier Summarization: </a:t>
            </a:r>
            <a:r>
              <a:rPr b="0" sz="1100">
                <a:solidFill>
                  <a:srgbClr val="1E293B"/>
                </a:solidFill>
              </a:rPr>
              <a:t>Instant LexRank extractive TL;DR in &lt; 1.5s plus LLM-generated chapters and key takeaways.</a:t>
            </a:r>
          </a:p>
          <a:p>
            <a:pPr>
              <a:spcAft>
                <a:spcPts val="800"/>
              </a:spcAft>
              <a:defRPr b="1" sz="1200">
                <a:solidFill>
                  <a:srgbClr val="0284C7"/>
                </a:solidFill>
              </a:defRPr>
            </a:pPr>
            <a:r>
              <a:t>✓ Computer Vision Scene Cuts: </a:t>
            </a:r>
            <a:r>
              <a:rPr b="0" sz="1100">
                <a:solidFill>
                  <a:srgbClr val="1E293B"/>
                </a:solidFill>
              </a:rPr>
              <a:t>OpenCV 1 fps frame differencing and HSV histograms pinpoint slide transitions.</a:t>
            </a:r>
          </a:p>
          <a:p>
            <a:pPr>
              <a:spcAft>
                <a:spcPts val="800"/>
              </a:spcAft>
              <a:defRPr b="1" sz="1200">
                <a:solidFill>
                  <a:srgbClr val="0284C7"/>
                </a:solidFill>
              </a:defRPr>
            </a:pPr>
            <a:r>
              <a:t>✓ 5-Tab Educator Studio: </a:t>
            </a:r>
            <a:r>
              <a:rPr b="0" sz="1100">
                <a:solidFill>
                  <a:srgbClr val="1E293B"/>
                </a:solidFill>
              </a:rPr>
              <a:t>Complete authoring workspace with direct MongoDB persistence for custom chapters, quizzes, and cards.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2. Novelty &amp; Key Technical Differentiators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★ Multimodal Fusion: </a:t>
            </a:r>
            <a:r>
              <a:rPr b="0" sz="1100">
                <a:solidFill>
                  <a:srgbClr val="1E293B"/>
                </a:solidFill>
              </a:rPr>
              <a:t>Unifies acoustic speech recognition (Whisper), computer vision slide detection (OpenCV), and lexical topic segmentation into a synchronized timeline.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42316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1460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★ Dual-Tier NLP Engine: </a:t>
            </a:r>
            <a:r>
              <a:rPr b="0" sz="1100">
                <a:solidFill>
                  <a:srgbClr val="1E293B"/>
                </a:solidFill>
              </a:rPr>
              <a:t>Solves the speed vs. depth trade-off: statistical LexRank provides instant local TL;DRs while cloud LLMs synthesize structured curriculum chapters.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★ Human-in-the-Loop Curation: </a:t>
            </a:r>
            <a:r>
              <a:rPr b="0" sz="1100">
                <a:solidFill>
                  <a:srgbClr val="1E293B"/>
                </a:solidFill>
              </a:rPr>
              <a:t>Gives educators full authority to correct transcripts, assign speaker diarization tags, and customize quizzes before publishing to students.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34340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3484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★ Active Recall Study Room: </a:t>
            </a:r>
            <a:r>
              <a:rPr b="0" sz="1100">
                <a:solidFill>
                  <a:srgbClr val="1E293B"/>
                </a:solidFill>
              </a:rPr>
              <a:t>Transforms passive video consumption into active learning via interactive auto-graded quizzes and 3D flip flashcards for spaced repetition.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03520"/>
            <a:ext cx="1069848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10332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★ Zero-Orphan Data Governance: </a:t>
            </a:r>
            <a:r>
              <a:rPr b="0" sz="1100">
                <a:solidFill>
                  <a:srgbClr val="1E293B"/>
                </a:solidFill>
              </a:rPr>
              <a:t>Enforces cascading data hygiene: deleting a video securely cascades deletions across disk media and 6 MongoDB collections.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3. High-Level 2D System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_2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31520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463040"/>
            <a:ext cx="3108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645920"/>
            <a:ext cx="2834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Architecture Topology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Presentation: React 19 + TypeScript + Vite with glassmorphic UI.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API Gateway: FastAPI Python 3.12 with async route handlers.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Polyglot Persistence: SQLite/PostgreSQL for Auth + MongoDB Atlas for Intelligence documents.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AI Workers: FFmpeg, Whisper STT, LexRank, and OpenCV pipelines.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• Live Telemetry: Persistent WebSockets streaming sub-second progress.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4. Comprehensive 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3A8A"/>
                </a:solidFill>
              </a:defRPr>
            </a:pPr>
            <a:r>
              <a:t>Client Frontend: </a:t>
            </a:r>
            <a:r>
              <a:rPr b="0" sz="1100">
                <a:solidFill>
                  <a:srgbClr val="1E293B"/>
                </a:solidFill>
              </a:rPr>
              <a:t>React 19, TypeScript 5.5, Vite 8.2, Tailwind CSS 3.4, Lucide Icons, Glassmorphism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993392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39112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3A8A"/>
                </a:solidFill>
              </a:defRPr>
            </a:pPr>
            <a:r>
              <a:t>Backend Gateway: </a:t>
            </a:r>
            <a:r>
              <a:rPr b="0" sz="1100">
                <a:solidFill>
                  <a:srgbClr val="1E293B"/>
                </a:solidFill>
              </a:rPr>
              <a:t>FastAPI 0.110 (ASGI), Python 3.12, Uvicorn, Pydantic v2, AsyncIO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23744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69463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3A8A"/>
                </a:solidFill>
              </a:defRPr>
            </a:pPr>
            <a:r>
              <a:t>Relational Database: </a:t>
            </a:r>
            <a:r>
              <a:rPr b="0" sz="1100">
                <a:solidFill>
                  <a:srgbClr val="1E293B"/>
                </a:solidFill>
              </a:rPr>
              <a:t>SQLite (Local Dev) / PostgreSQL (Production), SQLAlchemy (ACID Auth &amp; RBAC)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54096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099815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3A8A"/>
                </a:solidFill>
              </a:defRPr>
            </a:pPr>
            <a:r>
              <a:t>Document Database: </a:t>
            </a:r>
            <a:r>
              <a:rPr b="0" sz="1100">
                <a:solidFill>
                  <a:srgbClr val="1E293B"/>
                </a:solidFill>
              </a:rPr>
              <a:t>MongoDB Atlas 7.0 via Beanie ODM &amp; Motor AsyncIO (Video Intelligence documents)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84448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3A8A"/>
                </a:solidFill>
              </a:defRPr>
            </a:pPr>
            <a:r>
              <a:t>Speech Recognition: </a:t>
            </a:r>
            <a:r>
              <a:rPr b="0" sz="1100">
                <a:solidFill>
                  <a:srgbClr val="1E293B"/>
                </a:solidFill>
              </a:rPr>
              <a:t>OpenAI Whisper (Transformer ASR), 16kHz mono WAV, Word &amp; segment timestamps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114800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3A8A"/>
                </a:solidFill>
              </a:defRPr>
            </a:pPr>
            <a:r>
              <a:t>NLP Summarization: </a:t>
            </a:r>
            <a:r>
              <a:rPr b="0" sz="1100">
                <a:solidFill>
                  <a:srgbClr val="1E293B"/>
                </a:solidFill>
              </a:rPr>
              <a:t>LexRank (Graph Centrality) + Groq Cloud LLMs (LPU inference) / Google Gemini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45152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90872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3A8A"/>
                </a:solidFill>
              </a:defRPr>
            </a:pPr>
            <a:r>
              <a:t>Computer Vision: </a:t>
            </a:r>
            <a:r>
              <a:rPr b="0" sz="1100">
                <a:solidFill>
                  <a:srgbClr val="1E293B"/>
                </a:solidFill>
              </a:rPr>
              <a:t>OpenCV 4.9 (cv2), Pillow 10.2 (1 fps frame differencing &amp; HSV histogram cuts)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75504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221224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3A8A"/>
                </a:solidFill>
              </a:defRPr>
            </a:pPr>
            <a:r>
              <a:t>Media Processing: </a:t>
            </a:r>
            <a:r>
              <a:rPr b="0" sz="1100">
                <a:solidFill>
                  <a:srgbClr val="1E293B"/>
                </a:solidFill>
              </a:rPr>
              <a:t>FFmpeg 6.1 (audio extraction &amp; stream demuxing), yt-dlp 2024 (YouTube ingest)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705856"/>
            <a:ext cx="10698480" cy="4754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75157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E3A8A"/>
                </a:solidFill>
              </a:defRPr>
            </a:pPr>
            <a:r>
              <a:t>Document Exports: </a:t>
            </a:r>
            <a:r>
              <a:rPr b="0" sz="1100">
                <a:solidFill>
                  <a:srgbClr val="1E293B"/>
                </a:solidFill>
              </a:rPr>
              <a:t>ReportLab 4.1 (PDF graphics), python-docx 1.1 (MS Word), native SRT/VTT generators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5. End-to-End Media Processing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peline_2d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7315200" cy="41148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463040"/>
            <a:ext cx="31089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58200" y="1645920"/>
            <a:ext cx="28346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3A8A"/>
                </a:solidFill>
              </a:defRPr>
            </a:pPr>
            <a:r>
              <a:t>Pipeline Execution Stages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1. Ingestion: Multipart upload / YouTube URL via yt-dlp.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2. Demuxing: FFmpeg extracts 16kHz mono WAV (WS 20%).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3. Whisper STT: Word-level timestamps &amp; segments (WS 50%).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4. Summarization: LexRank TL;DR + LLM chapters (WS 75%).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5. Key Moments: OpenCV 1 fps cut &amp; slide cuts (WS 90%).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6. Persistence: MongoDB Atlas BSON write operations.</a:t>
            </a:r>
          </a:p>
          <a:p>
            <a:pPr>
              <a:spcAft>
                <a:spcPts val="500"/>
              </a:spcAft>
              <a:defRPr sz="1050">
                <a:solidFill>
                  <a:srgbClr val="1E293B"/>
                </a:solidFill>
              </a:defRPr>
            </a:pPr>
            <a:r>
              <a:t>7. Delivery: WebSocket pushes 100% completion event.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6. Polyglot Dual-Database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Relational SQL (SQLite / PostgreSQL)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Guarantees ACID compliance for security-critical entities.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Table 'users': id, email (unique), full_name, hashed_password (Bcrypt), role, is_active, created_at.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Table 'audit_logs': id, actor_id, action_type, target_id, details, timestamp (50+ system events).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Role-Based Access Control policies verified via declarative route dependencies.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284C7"/>
                </a:solidFill>
              </a:defRPr>
            </a:pPr>
            <a:r>
              <a:t>Document NoSQL (MongoDB Atlas &amp; Beanie)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Optimal for variable-length, nested multimedia data structures.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Collection 'Video': metadata, duration, file_path, processing status.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Collection 'Transcript': segments array with start/end millisecond timestamps and word tokens.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Collection 'Summary': TL;DR, detailed text, key takeaways, and curriculum sections.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Collections 'Quiz' &amp; 'FlashcardSet': custom educator assessment items.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7. Speech-to-Text Subsystem (OpenAI Whisper)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anscript_light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2404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463040"/>
            <a:ext cx="3840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474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Whisper Integration Features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Processes 80-channel Log-Mel spectrograms from 16kHz mono WAV.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Dual-resolution timestamps: 3-5s sentence segments and sub-second word tokens.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Estimated Word Error Rate (WER) of 4.18% on technical lectures.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Interactive Transcript Search: learners filter keywords in real time.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Click-to-Seek Playback: clicking any sentence immediately jumps the video player.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8. Dual-Tier NLP Summarization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mmary_light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2404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463040"/>
            <a:ext cx="3840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474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Dual-Tier Summarization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Tier 1: LexRank Extractive Engine computes eigenvector graph centrality over TF-IDF cosine similarities, returning TL;DR in &lt; 1.5s.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Tier 2: Generative LLM Connector synthesizes hierarchical chapter overviews, bulleted takeaways, and quizzes.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</a:defRPr>
            </a:pPr>
            <a:r>
              <a:t>• Zero Hallucination Grounding: all summary points retain forward pointers to exact video timestamps.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9. Role-Based Access Control (RBAC) Matrix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in_light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486400" cy="27003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92240" y="1463040"/>
            <a:ext cx="493776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6459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4-Role Permission Matrix</a:t>
            </a:r>
          </a:p>
          <a:p>
            <a:pPr>
              <a:spcAft>
                <a:spcPts val="600"/>
              </a:spcAft>
              <a:defRPr b="1" sz="1150">
                <a:solidFill>
                  <a:srgbClr val="1E3A8A"/>
                </a:solidFill>
              </a:defRPr>
            </a:pPr>
            <a:r>
              <a:t>• Content Creator: </a:t>
            </a:r>
            <a:r>
              <a:rPr b="0" sz="1100">
                <a:solidFill>
                  <a:srgbClr val="1E293B"/>
                </a:solidFill>
              </a:rPr>
              <a:t>Upload videos, YouTube ingest, AI summaries, multi-format exports, personal catalog.</a:t>
            </a:r>
          </a:p>
          <a:p>
            <a:pPr>
              <a:spcAft>
                <a:spcPts val="600"/>
              </a:spcAft>
              <a:defRPr b="1" sz="1150">
                <a:solidFill>
                  <a:srgbClr val="1E3A8A"/>
                </a:solidFill>
              </a:defRPr>
            </a:pPr>
            <a:r>
              <a:t>• Learner: </a:t>
            </a:r>
            <a:r>
              <a:rPr b="0" sz="1100">
                <a:solidFill>
                  <a:srgbClr val="1E293B"/>
                </a:solidFill>
              </a:rPr>
              <a:t>Browse library, synchronized playback, keyword search, interactive quizzes, 3D flashcards, bookmarks.</a:t>
            </a:r>
          </a:p>
          <a:p>
            <a:pPr>
              <a:spcAft>
                <a:spcPts val="600"/>
              </a:spcAft>
              <a:defRPr b="1" sz="1150">
                <a:solidFill>
                  <a:srgbClr val="1E3A8A"/>
                </a:solidFill>
              </a:defRPr>
            </a:pPr>
            <a:r>
              <a:t>• Educator: </a:t>
            </a:r>
            <a:r>
              <a:rPr b="0" sz="1100">
                <a:solidFill>
                  <a:srgbClr val="1E293B"/>
                </a:solidFill>
              </a:rPr>
              <a:t>5-Tab Studio: edit transcripts with speaker tags, structure chapters, build quizzes, preview student view.</a:t>
            </a:r>
          </a:p>
          <a:p>
            <a:pPr>
              <a:spcAft>
                <a:spcPts val="600"/>
              </a:spcAft>
              <a:defRPr b="1" sz="1150">
                <a:solidFill>
                  <a:srgbClr val="1E3A8A"/>
                </a:solidFill>
              </a:defRPr>
            </a:pPr>
            <a:r>
              <a:t>• Administrator: </a:t>
            </a:r>
            <a:r>
              <a:rPr b="0" sz="1100">
                <a:solidFill>
                  <a:srgbClr val="1E293B"/>
                </a:solidFill>
              </a:rPr>
              <a:t>User governance, role assignment, system telemetry, 50+ event audit warehouse, cache clearing.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10. Educator Studio (5-Tab Authoring Suite)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b1_transcript_editor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2565321"/>
          </a:xfrm>
          <a:prstGeom prst="rect">
            <a:avLst/>
          </a:prstGeom>
        </p:spPr>
      </p:pic>
      <p:pic>
        <p:nvPicPr>
          <p:cNvPr id="7" name="Picture 6" descr="tab2_chapters_topics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25653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846320"/>
            <a:ext cx="106984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Educator Studio Capabilities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Tab 1: Correct speech typos and assign speaker labels (diarization).  |  Tab 2: Structure modular lesson chapters with custom start/end timestamps.  |  Tab 3: Author multiple-choice quizzes with explanations.  |  Tab 4: Create active-recall flashcard decks.  |  Tab 5: Live student preview mode before publication.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11. Assessment Suite &amp; Learner Study 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b3_quiz_builder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5212080" cy="2565321"/>
          </a:xfrm>
          <a:prstGeom prst="rect">
            <a:avLst/>
          </a:prstGeom>
        </p:spPr>
      </p:pic>
      <p:pic>
        <p:nvPicPr>
          <p:cNvPr id="7" name="Picture 6" descr="tab4_flashcard_buil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3040"/>
            <a:ext cx="5212080" cy="25653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846320"/>
            <a:ext cx="106984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E3A8A"/>
                </a:solidFill>
              </a:defRPr>
            </a:pPr>
            <a:r>
              <a:t>Active Recall Learning Tools</a:t>
            </a:r>
          </a:p>
          <a:p>
            <a:pPr>
              <a:defRPr sz="1100">
                <a:solidFill>
                  <a:srgbClr val="1E293B"/>
                </a:solidFill>
              </a:defRPr>
            </a:pPr>
            <a:r>
              <a:t>Interactive Quizzes: Auto-graded assessments with instant answer reveals and pedagogical explanations.  |  3D Flashcards: Concept-definition cards linked to video timestamps for spaced repetition study.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12. Multi-Format Document Export Studio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port_light_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6583680" cy="324040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89520" y="1463040"/>
            <a:ext cx="3840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645920"/>
            <a:ext cx="34747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Supported Export Formats</a:t>
            </a:r>
          </a:p>
          <a:p>
            <a:pPr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• PDF Study Guide: </a:t>
            </a:r>
            <a:r>
              <a:rPr b="0" sz="1050">
                <a:solidFill>
                  <a:srgbClr val="1E293B"/>
                </a:solidFill>
              </a:rPr>
              <a:t>ReportLab-generated formatted document with title blocks, TL;DR, key moments, and transcripts.</a:t>
            </a:r>
          </a:p>
          <a:p>
            <a:pPr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• Microsoft Word (DOCX): </a:t>
            </a:r>
            <a:r>
              <a:rPr b="0" sz="1050">
                <a:solidFill>
                  <a:srgbClr val="1E293B"/>
                </a:solidFill>
              </a:rPr>
              <a:t>Fully editable course notes generated via python-docx.</a:t>
            </a:r>
          </a:p>
          <a:p>
            <a:pPr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• Plain Text (TXT): </a:t>
            </a:r>
            <a:r>
              <a:rPr b="0" sz="1050">
                <a:solidFill>
                  <a:srgbClr val="1E293B"/>
                </a:solidFill>
              </a:rPr>
              <a:t>Clean UTF-8 text for note-taking apps and screen readers.</a:t>
            </a:r>
          </a:p>
          <a:p>
            <a:pPr>
              <a:spcAft>
                <a:spcPts val="600"/>
              </a:spcAft>
              <a:defRPr b="1" sz="1100">
                <a:solidFill>
                  <a:srgbClr val="1E3A8A"/>
                </a:solidFill>
              </a:defRPr>
            </a:pPr>
            <a:r>
              <a:t>• Subtitles (SRT &amp; VTT): </a:t>
            </a:r>
            <a:r>
              <a:rPr b="0" sz="1050">
                <a:solidFill>
                  <a:srgbClr val="1E293B"/>
                </a:solidFill>
              </a:rPr>
              <a:t>Standard time-synchronized captions for VLC, YouTube, or Canvas LMS.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13. Reliability, Security &amp; Risk Mitigation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🛡️ Zero-Orphan Cascading Deletion: </a:t>
            </a:r>
            <a:r>
              <a:rPr b="0" sz="1100">
                <a:solidFill>
                  <a:srgbClr val="1E293B"/>
                </a:solidFill>
              </a:rPr>
              <a:t>Deleting a video permanently removes physical files (/videos, /audio, /thumbnails, /exports) and cleans records across 6 MongoDB collections (Video, Transcript, Summary, KeyMoments, Quiz, FlashcardSet).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🛡️ Chunked Streaming &amp; Memory Safety: </a:t>
            </a:r>
            <a:r>
              <a:rPr b="0" sz="1100">
                <a:solidFill>
                  <a:srgbClr val="1E293B"/>
                </a:solidFill>
              </a:rPr>
              <a:t>FastAPI streams 1MB multipart chunks directly to disk, preventing memory exhaustion and server crashes on large 500MB+ video uploads.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5020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🛡️ Declarative Route Guards (RBAC): </a:t>
            </a:r>
            <a:r>
              <a:rPr b="0" sz="1100">
                <a:solidFill>
                  <a:srgbClr val="1E293B"/>
                </a:solidFill>
              </a:rPr>
              <a:t>FastAPI dependency injection (require_roles) inspects JWT claims, enforcing HTTP 403 Forbidden blocks before unauthorized operations execute.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2920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3892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🛡️ Audit Logging Data Warehouse: </a:t>
            </a:r>
            <a:r>
              <a:rPr b="0" sz="1100">
                <a:solidFill>
                  <a:srgbClr val="1E293B"/>
                </a:solidFill>
              </a:rPr>
              <a:t>Records 50+ system events (actor_id, action_type, target_id, timestamp) providing full operational compliance and security traceability.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14. Milestone 1 &amp; 2 Technical Delivery (Weeks 1 to 4)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3A8A"/>
                </a:solidFill>
              </a:defRPr>
            </a:pPr>
            <a:r>
              <a:t>Milestone 1 (Weeks 1 &amp; 2) — Architecture &amp; Ingestion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Setup polyglot persistence (SQLite/Postgres + MongoDB Atlas).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FastAPI gateway with JWT authentication and 4-tier RBAC.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Chunked multipart video upload handler (.mp4, .mov, .mkv).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YouTube stream extraction integration using yt-dlp.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FFmpeg audio demuxing converting video to 16kHz mono WAV.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Evaluation Status: PASSED (100%).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Milestone 2 (Weeks 3 &amp; 4) — STT &amp; Summarization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OpenAI Whisper STT integration with sub-second word timestamps.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Structured BSON transcript document schemas in MongoDB Atlas.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LexRank graph-based extractive summarization (TL;DR &lt; 1.5s).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Abstractive LLM chapter synthesis and bulleted key takeaways.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Synchronized transcript search viewer with click-to-seek video playback.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Evaluation Status: PASSED (100%).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15. Milestone 3 &amp; 4 Technical Delivery (Weeks 5 to 8)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3A8A"/>
                </a:solidFill>
              </a:defRPr>
            </a:pPr>
            <a:r>
              <a:t>Milestone 3 (Weeks 5 &amp; 6) — Workspaces &amp; Exports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OpenCV 1 fps frame differencing &amp; HSV histogram cut detection.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5-Tab Educator Studio with direct MongoDB Atlas curriculum persistence.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Learner Study Room with auto-graded quizzes and 3D flashcards.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Multi-format document export engine (PDF, DOCX, TXT, SRT, VTT).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Bidirectional WebSocket progress telemetry (/ws/videos/{id}).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Evaluation Status: PASSED (100%).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284C7"/>
                </a:solidFill>
              </a:defRPr>
            </a:pPr>
            <a:r>
              <a:t>Milestone 4 (Weeks 7 &amp; 8) — Testing &amp; Production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Automated end-to-end test suite passing 28/28 verification tests.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Cascading deletion verified with zero orphan records on disk/DB.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Multi-stage Docker containerization and Render Blueprint deployment.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Vite frontend bundle optimization (compiles in 1.26s).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Comprehensive documentation, presentation deck, and demonstration scripts.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</a:defRPr>
            </a:pPr>
            <a:r>
              <a:t>✓ Evaluation Status: PASSED (100%).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16. Performance Benchmarks &amp; Quality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Processing Latency Benchmarks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10-Minute Video: processes end-to-end in ~29 seconds.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60-Minute Video: processes end-to-end in ~2.6 minutes (157.4s).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2.6x Real-Time Acceleration Factor across full pipeline.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LexRank Extractive Summary: generated in &lt; 1.5 seconds.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Frontend Vite Build Time: compiles in 1.26 seconds.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284C7"/>
                </a:solidFill>
              </a:defRPr>
            </a:pPr>
            <a:r>
              <a:t>Accuracy &amp; Model Metrics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✓ Whisper STT Accuracy: 4.18% Word Error Rate (WER) / 0.85% CER.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✓ Summarization Quality: ROUGE-1 46.8%, ROUGE-L 42.1%.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✓ Visual Cut Detection: 92.4% precision / 89.6% recall.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✓ Security Enforcement: 100% pass across RBAC isolation tests.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✓ Pipeline Success Rate: 100% across all evaluated media.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17. Automated Verification Test Suite (28/28 Pass)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3619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3A8A"/>
                </a:solidFill>
              </a:defRPr>
            </a:pPr>
            <a:r>
              <a:t>✓ Phase 1: Authentication &amp; JWT Issuance — PASSED (100%)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Registration, salted Bcrypt hash verification, signed JWT token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5798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31136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3A8A"/>
                </a:solidFill>
              </a:defRPr>
            </a:pPr>
            <a:r>
              <a:t>✓ Phase 2: RBAC Route Isolation — PASSED (100%)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Route guards verify permissions; unauthorized requests receive HTTP 403 Forbidden.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52928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3A8A"/>
                </a:solidFill>
              </a:defRPr>
            </a:pPr>
            <a:r>
              <a:t>✓ Phase 3: Video Ingestion &amp; Whisper STT — PASSED (100%)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Chunked multipart upload, MIME validation, 16kHz audio demux, Whisper word timestamps.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47872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21024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3A8A"/>
                </a:solidFill>
              </a:defRPr>
            </a:pPr>
            <a:r>
              <a:t>✓ Phase 4: LexRank &amp; OpenCV Scene Cuts — PASSED (100%)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Extractive graph centrality summary, 1 fps frame differencing, WebP thumbnail generation.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15968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3A8A"/>
                </a:solidFill>
              </a:defRPr>
            </a:pPr>
            <a:r>
              <a:t>✓ Phase 5: Educator Studio Persistence — PASSED (100%)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Transcript corrections, chapters, quizzes, and flashcard decks persist to MongoDB Atlas.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937760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3A8A"/>
                </a:solidFill>
              </a:defRPr>
            </a:pPr>
            <a:r>
              <a:t>✓ Phase 6: Multi-Format Document Exports — PASSED (100%)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Verified file generation for PDF (ReportLab), Word (python-docx), TXT, SRT, and VTT.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632704"/>
            <a:ext cx="1069848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705856"/>
            <a:ext cx="10332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1E3A8A"/>
                </a:solidFill>
              </a:defRPr>
            </a:pPr>
            <a:r>
              <a:t>✓ Phase 7: Cascading Deletion &amp; Governance — PASSED (100%)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Zero-orphan cascading cleanup across disk and 6 MongoDB collections; 50+ event audit logs.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18. Real-World Applications &amp; Use Cases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🌐 Academic Lecture Portals: </a:t>
            </a:r>
            <a:r>
              <a:rPr b="0" sz="1100">
                <a:solidFill>
                  <a:srgbClr val="1E293B"/>
                </a:solidFill>
              </a:rPr>
              <a:t>Automatically indexes recorded university lectures into searchable study units with auto-graded practice quizzes and active recall flashcards.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6148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🌐 Corporate Onboarding &amp; Training: </a:t>
            </a:r>
            <a:r>
              <a:rPr b="0" sz="1100">
                <a:solidFill>
                  <a:srgbClr val="1E293B"/>
                </a:solidFill>
              </a:rPr>
              <a:t>Enables new hires to review hours of product walkthroughs, architecture seminars, and compliance sessions in minutes.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5020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🌐 Content Creator Repurposing: </a:t>
            </a:r>
            <a:r>
              <a:rPr b="0" sz="1100">
                <a:solidFill>
                  <a:srgbClr val="1E293B"/>
                </a:solidFill>
              </a:rPr>
              <a:t>Assists YouTubers and podcasters in generating time-coded chapter markers, video descriptions, and social media bullet points with one click.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29200"/>
            <a:ext cx="1069848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38928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E3A8A"/>
                </a:solidFill>
              </a:defRPr>
            </a:pPr>
            <a:r>
              <a:t>🌐 Low-Bandwidth Remote Accessibility: </a:t>
            </a:r>
            <a:r>
              <a:rPr b="0" sz="1100">
                <a:solidFill>
                  <a:srgbClr val="1E293B"/>
                </a:solidFill>
              </a:rPr>
              <a:t>Students with limited internet connectivity can download lightweight PDF/DOCX study guides and text transcripts without streaming heavy video files.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INFOSYS SPRINGBOARD • INTERNSHIP TECHNICAL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3A8A"/>
                </a:solidFill>
              </a:defRPr>
            </a:pPr>
            <a:r>
              <a:t>19. Conclusion &amp; Future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69848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E3A8A"/>
                </a:solidFill>
              </a:defRPr>
            </a:pPr>
            <a:r>
              <a:t>Project Summary &amp; Achievements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100% Compliance with Infosys Springboard Project Specification.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End-to-End working pipeline: speech-to-text, summarization, slide detection, and authoring.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Dedicated workspaces for Creators, Learners, Educators, and Administrators.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Publication-ready document generation (PDF, Word, captions).</a:t>
            </a:r>
          </a:p>
          <a:p>
            <a:pPr>
              <a:spcAft>
                <a:spcPts val="800"/>
              </a:spcAft>
              <a:defRPr sz="1150">
                <a:solidFill>
                  <a:srgbClr val="1E293B"/>
                </a:solidFill>
              </a:defRPr>
            </a:pPr>
            <a:r>
              <a:t>• Complete automated test suite passing 28 out of 28 verification checks.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645920"/>
            <a:ext cx="4846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284C7"/>
                </a:solidFill>
              </a:defRPr>
            </a:pPr>
            <a:r>
              <a:t>Future Technical Roadmap</a:t>
            </a:r>
          </a:p>
          <a:p>
            <a:pPr>
              <a:spcAft>
                <a:spcPts val="600"/>
              </a:spcAft>
              <a:defRPr b="1" sz="1150">
                <a:solidFill>
                  <a:srgbClr val="1E3A8A"/>
                </a:solidFill>
              </a:defRPr>
            </a:pPr>
            <a:r>
              <a:t>→ Multilingual Cross-Dubbing: </a:t>
            </a:r>
            <a:r>
              <a:rPr b="0" sz="1100">
                <a:solidFill>
                  <a:srgbClr val="1E293B"/>
                </a:solidFill>
              </a:rPr>
              <a:t>Neural machine translation and text-to-speech for synthetic voiceovers.</a:t>
            </a:r>
          </a:p>
          <a:p>
            <a:pPr>
              <a:spcAft>
                <a:spcPts val="600"/>
              </a:spcAft>
              <a:defRPr b="1" sz="1150">
                <a:solidFill>
                  <a:srgbClr val="1E3A8A"/>
                </a:solidFill>
              </a:defRPr>
            </a:pPr>
            <a:r>
              <a:t>→ Slide OCR &amp; Vision RAG: </a:t>
            </a:r>
            <a:r>
              <a:rPr b="0" sz="1100">
                <a:solidFill>
                  <a:srgbClr val="1E293B"/>
                </a:solidFill>
              </a:rPr>
              <a:t>Extracting whiteboard math and code snippets directly into a vector database for semantic search.</a:t>
            </a:r>
          </a:p>
          <a:p>
            <a:pPr>
              <a:spcAft>
                <a:spcPts val="600"/>
              </a:spcAft>
              <a:defRPr b="1" sz="1150">
                <a:solidFill>
                  <a:srgbClr val="1E3A8A"/>
                </a:solidFill>
              </a:defRPr>
            </a:pPr>
            <a:r>
              <a:t>→ LMS LTI 1.3 Integration: </a:t>
            </a:r>
            <a:r>
              <a:rPr b="0" sz="1100">
                <a:solidFill>
                  <a:srgbClr val="1E293B"/>
                </a:solidFill>
              </a:rPr>
              <a:t>Seamless gradebook and video embedding into Canvas, Moodle, and Blackboard.</a:t>
            </a:r>
          </a:p>
          <a:p>
            <a:pPr>
              <a:spcAft>
                <a:spcPts val="600"/>
              </a:spcAft>
              <a:defRPr b="1" sz="1150">
                <a:solidFill>
                  <a:srgbClr val="1E3A8A"/>
                </a:solidFill>
              </a:defRPr>
            </a:pPr>
            <a:r>
              <a:t>→ Distributed Message Broker: </a:t>
            </a:r>
            <a:r>
              <a:rPr b="0" sz="1100">
                <a:solidFill>
                  <a:srgbClr val="1E293B"/>
                </a:solidFill>
              </a:rPr>
              <a:t>Transitioning in-process background tasks to Celery with Redis for horizontal cloud scaling.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