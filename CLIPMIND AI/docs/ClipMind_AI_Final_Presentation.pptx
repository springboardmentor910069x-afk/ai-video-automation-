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INFOSYS SPRINGBOARD INTERNSHIP PROJECT REPORT</a:t>
            </a:r>
          </a:p>
          <a:p>
            <a:pPr>
              <a:spcAft>
                <a:spcPts val="1400"/>
              </a:spcAft>
              <a:defRPr sz="3200" b="1">
                <a:solidFill>
                  <a:srgbClr val="1E3A8A"/>
                </a:solidFill>
              </a:defRPr>
            </a:pPr>
            <a:r>
              <a:t>ClipMind AI: Video Summarization &amp;</a:t>
            </a:r>
            <a:br/>
            <a:r>
              <a:t>Key Moments Detection Platform</a:t>
            </a:r>
          </a:p>
          <a:p>
            <a:pPr>
              <a:spcAft>
                <a:spcPts val="2800"/>
              </a:spcAft>
              <a:defRPr sz="1400">
                <a:solidFill>
                  <a:srgbClr val="1E293B"/>
                </a:solidFill>
              </a:defRPr>
            </a:pPr>
            <a:r>
              <a:t>Enterprise-Grade Multimodal Video Intelligence with Zero-Loss Google Drive Cloud Storage &amp; Concept Mind Mapping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Developer: Adabala Venkata Thrinadh  |  B.Tech Computer Science &amp; Engineering (Batch 2024–2028)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Institution: GMR Institute of Technology, Rajam  |  Version: 1.0 Production Technical Release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937760"/>
            <a:ext cx="201168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Whisper STT (4.18% WER)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937760"/>
            <a:ext cx="210312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Dual-Tier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4937760"/>
            <a:ext cx="192024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OpenCV Scene Cuts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4937760"/>
            <a:ext cx="219456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Google Drive 15GB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4937760"/>
            <a:ext cx="128016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84C7"/>
                </a:solidFill>
              </a:defRPr>
            </a:pPr>
            <a:r>
              <a:t>Interactive Mind Maps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1. Problem Statement &amp; Architectural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9377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</a:defRPr>
            </a:pPr>
            <a:r>
              <a:t>Traditional Video Learning Bottlenecks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Linear Scrubbing Friction: </a:t>
            </a:r>
            <a:r>
              <a:rPr b="0" sz="1000">
                <a:solidFill>
                  <a:srgbClr val="64748B"/>
                </a:solidFill>
              </a:rPr>
              <a:t>60-minute video forces 60 minutes of sequential scrubbing; up to 80% of study time is wasted searching for specific theorems or formulas.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Zero In-Video Semantic Search: </a:t>
            </a:r>
            <a:r>
              <a:rPr b="0" sz="1000">
                <a:solidFill>
                  <a:srgbClr val="64748B"/>
                </a:solidFill>
              </a:rPr>
              <a:t>Standard media players cannot search spoken dialogue, mathematical definitions, or visual slide transitions.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Ephemeral Cloud Media Loss: </a:t>
            </a:r>
            <a:r>
              <a:rPr b="0" sz="1000">
                <a:solidFill>
                  <a:srgbClr val="64748B"/>
                </a:solidFill>
              </a:rPr>
              <a:t>Containers on Render and AWS ECS wipe local disk storage on restart, breaking video playback for uploaded files.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Passive Cognitive Decay: </a:t>
            </a:r>
            <a:r>
              <a:rPr b="0" sz="1000">
                <a:solidFill>
                  <a:srgbClr val="64748B"/>
                </a:solidFill>
              </a:rPr>
              <a:t>Watching videos passively yields &lt;20% long-term retention without active recall, spaced repetition, and conceptual mapping.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06440" y="3566160"/>
            <a:ext cx="502920" cy="36576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ClipMind AI Cognitive Solution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Sub-Second Word-Level Seeking: </a:t>
            </a:r>
            <a:r>
              <a:rPr b="0" sz="1000">
                <a:solidFill>
                  <a:srgbClr val="64748B"/>
                </a:solidFill>
              </a:rPr>
              <a:t>Pretrained OpenAI Whisper aligns every word to millisecond timestamps; click any transcript word to seek video instantaneously.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Dual-Tier Summaries &amp; Mind Maps: </a:t>
            </a:r>
            <a:r>
              <a:rPr b="0" sz="1000">
                <a:solidFill>
                  <a:srgbClr val="64748B"/>
                </a:solidFill>
              </a:rPr>
              <a:t>LexRank graph centrality + LLM chapter synthesis + interactive SVG concept graph for visual hierarchical learning.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Google Drive 15GB Cloud Storage: </a:t>
            </a:r>
            <a:r>
              <a:rPr b="0" sz="1000">
                <a:solidFill>
                  <a:srgbClr val="64748B"/>
                </a:solidFill>
              </a:rPr>
              <a:t>OAuth auto-backup connects to personal Google Drive; HTTP 206 range streaming proxy guarantees zero data loss.</a:t>
            </a:r>
          </a:p>
          <a:p>
            <a:pPr>
              <a:spcAft>
                <a:spcPts val="800"/>
              </a:spcAft>
              <a:defRPr b="1" sz="1100">
                <a:solidFill>
                  <a:srgbClr val="1E293B"/>
                </a:solidFill>
              </a:defRPr>
            </a:pPr>
            <a:r>
              <a:t>• Active Recall &amp; Spaced Repetition: </a:t>
            </a:r>
            <a:r>
              <a:rPr b="0" sz="1000">
                <a:solidFill>
                  <a:srgbClr val="64748B"/>
                </a:solidFill>
              </a:rPr>
              <a:t>Auto-grades interactive multiple-choice quizzes and renders 3D flip flashcards for high knowledge retention.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2. Proposed Solution &amp; Novelty (6 Architectural Pillars)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627632"/>
            <a:ext cx="164592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ZERO-LOSS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Google Drive 15GB Cloud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Direct GIS OAuth 2.0 connection gives 15 GB persistent storage.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Automatic background cloud sync on upload without manual toggle.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HTTP 206 Partial Content range proxy enables sub-20ms seeking.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Eliminates media loss when ephemeral cloud containers reset.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46304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9432" y="1627632"/>
            <a:ext cx="164592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190195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Universal Pipeline Fallback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Pipeline downloads file from Drive if local disk was wiped.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Executes full 7 stages: demux, Whisper ASR, OpenCV, summaries.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100% processing continuity across restarts and redeployments.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Working disk buffer cleans temporary files automatically.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46304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84464" y="1627632"/>
            <a:ext cx="1645920" cy="25603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t>KNOWLEDGE GRAPH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190195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Interactive Concept Mind Maps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Synthesizes transcript into hierarchical conceptual tree.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Clicking any node seeks video player immediately to timestamp.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Dynamic SVG canvas with smooth drag-to-pan, zoom, and search.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1-click export generates publication-grade vector SVG study notes.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4187952"/>
            <a:ext cx="164592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WHISPER &amp; OPENCV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6227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Multimodal Video Engine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OpenAI Whisper ASR achieves 4.18% WER (95.82% accuracy).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Sub-second word-level timestamp alignment with auto-scroll.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OpenCV 1 fps frame deltas and HSV histograms detect slide cuts.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Correlates visual transitions with spoken sentence boundaries.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402336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99432" y="4187952"/>
            <a:ext cx="1645920" cy="256032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D97706"/>
                </a:solidFill>
              </a:defRPr>
            </a:pPr>
            <a:r>
              <a:t>EXTRACTIVE &amp; ABSTRACTIVE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446227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Dual-Tier Summarization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Tier 1: LexRank TF-IDF graph centrality extracts TL;DR in &lt;1.5s.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Tier 2: Generative LLMs synthesize modular curriculum chapters.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Generates Bloom's taxonomy practice quizzes &amp; 3D flashcards.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3 depth modes: Quick TL;DR, Detailed, and Executive Deep Dive.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4" y="4023360"/>
            <a:ext cx="333756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84464" y="4187952"/>
            <a:ext cx="164592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CURRICULUM AUTHORING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46227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1">
                <a:solidFill>
                  <a:srgbClr val="1E3A8A"/>
                </a:solidFill>
              </a:defRPr>
            </a:pPr>
            <a:r>
              <a:t>5-Tab Educator Studio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Tab 1: Inline transcript editor with speaker diarization tags.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Tab 2: Curriculum chapters builder with custom time markers.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Tab 3: Assessment authoring with answer keys and explanations.</a:t>
            </a:r>
          </a:p>
          <a:p>
            <a:pPr>
              <a:spcAft>
                <a:spcPts val="200"/>
              </a:spcAft>
              <a:defRPr sz="950">
                <a:solidFill>
                  <a:srgbClr val="1E293B"/>
                </a:solidFill>
              </a:defRPr>
            </a:pPr>
            <a:r>
              <a:t>• Tabs 4 &amp; 5: Active recall flashcard decks &amp; live student preview.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3. Architecture Structural Flow &amp; Layer Interconnections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5912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Layer 1: Frontend Client Presentation Layer  [React 19 • TypeScript 5.5 • Vite 8.2 • Tailwind CSS • Responsive UI]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Modules: Creator Upload Studio  |  Learner Study Room  |  Interactive Concept Mind Map Canvas  |  5-Tab Educator Studio  |  Admin Hub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2423160"/>
            <a:ext cx="384048" cy="32004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725912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346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Layer 2: API Gateway &amp; Security Orchestration  [FastAPI ASGI • Python 3.12 • OAuth2 JWT • Google Identity Services • WebSockets]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Services: Stateless JWT Verification  |  GIS Google Sign-In  |  Declarative RBAC Guards  |  HTTP 206 Streaming Proxy  |  WebSocket Hub (/ws)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897880" y="3749039"/>
            <a:ext cx="384048" cy="320040"/>
          </a:xfrm>
          <a:prstGeom prst="downArrow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10725912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C3AED"/>
                </a:solidFill>
              </a:defRPr>
            </a:pPr>
            <a:r>
              <a:t>Layer 3: Asynchronous Media &amp; AI Processing Engine  [FFmpeg 6.1 • OpenAI Whisper ASR • LexRank • LLMs • OpenCV 4.9]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Engines: FFmpeg 16kHz WAV Demuxer  |  Whisper STT (4.18% WER)  |  Dual-Tier Summarizer  |  OpenCV 1 fps Scene Cuts  |  Mind Map Graph Synthesizer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6636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120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E3A8A"/>
                </a:solidFill>
              </a:defRPr>
            </a:pPr>
            <a:r>
              <a:t>Layer 4: Polyglot Persistence Layer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Relational SQL: Users, salted Bcrypt hashes, 50+ event audit logs.</a:t>
            </a:r>
            <a:br/>
            <a:r>
              <a:t>• MongoDB Atlas 7.0: Videos, Transcripts, Summaries, Quizzes, Mind Maps.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5166360"/>
            <a:ext cx="52120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52120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Layer 5: Zero-Loss Cloud Storage Architecture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Google Drive API v3: 15 GB persistent personal storage via GIS OAuth.</a:t>
            </a:r>
            <a:br/>
            <a:r>
              <a:t>• HTTP 206 Partial Content range proxy (&lt;20ms seek) &amp; pipeline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4. End-to-End Processing Workflow (Complete Data Lifecycle)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1600199" cy="27432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284C7"/>
                </a:solidFill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69163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Ingestion Sources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Local Video Upload (MP4/MOV/MKV)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yt-dlp YouTube Ingestion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Google Drive Direct Sync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MIME check &amp; SHA-256 hash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51759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44368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81527" y="1600200"/>
            <a:ext cx="1600199" cy="2743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E3A8A"/>
                </a:solidFill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1965960"/>
            <a:ext cx="169163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Gateway &amp; Cloud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FastAPI ASGI Gateway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Background Drive Auto-Backup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Universal Buffer Fallback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WebSocket Connection (/ws)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64607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57216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94376" y="1600200"/>
            <a:ext cx="1600199" cy="27432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7C3AED"/>
                </a:solidFill>
              </a:defRPr>
            </a:pPr>
            <a:r>
              <a:t>Phase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5" y="1965960"/>
            <a:ext cx="169163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Multimodal AI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FFmpeg 16kHz Mono WAV Demux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Whisper ASR (4.18% WER)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LexRank + LLM Chapters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OpenCV 1 fps Scene Cuts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77455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70064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1600200"/>
            <a:ext cx="1600199" cy="2743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E3A8A"/>
                </a:solidFill>
              </a:defRPr>
            </a:pPr>
            <a:r>
              <a:t>Phase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1965960"/>
            <a:ext cx="169163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Persistence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Relational SQL Users DB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MongoDB Atlas Documents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HTTP 206 Video Range Proxy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Multi-Format Exporter Studio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90304" y="3657600"/>
            <a:ext cx="246888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82912" y="1463040"/>
            <a:ext cx="1874519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20072" y="1600200"/>
            <a:ext cx="1600199" cy="27432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10B981"/>
                </a:solidFill>
              </a:defRPr>
            </a:pPr>
            <a:r>
              <a:t>Phase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1965960"/>
            <a:ext cx="1691639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Role Workspaces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Content Creator Studio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Learner Interactive Study Room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5-Tab Educator Studio</a:t>
            </a:r>
          </a:p>
          <a:p>
            <a:pPr>
              <a:spcAft>
                <a:spcPts val="800"/>
              </a:spcAft>
              <a:defRPr sz="950">
                <a:solidFill>
                  <a:srgbClr val="1E293B"/>
                </a:solidFill>
              </a:defRPr>
            </a:pPr>
            <a:r>
              <a:t>• Administrator Governance 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5. Detailed 7-Stage Video Processing Pipeline (Real-Time Telemetry)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2148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Ingestion &amp; Probe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MIME check, UUID assign, Google Drive auto-sync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237744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2900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35%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965960"/>
            <a:ext cx="2148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Media Demuxing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FFmpeg audio extraction to 16kHz mono WAV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97880" y="237744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2648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65%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2148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Whisper STT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80-channel Log-Mel spectrograms, word timestamps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595360" y="237744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23960" y="1463040"/>
            <a:ext cx="24231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0" y="162763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0" y="162763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965960"/>
            <a:ext cx="2148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Dual Summarization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LexRank TF-IDF graph + Generative LLM chapters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515600" y="3703320"/>
            <a:ext cx="274320" cy="274320"/>
          </a:xfrm>
          <a:prstGeom prst="down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4023360"/>
            <a:ext cx="33375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418795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18795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85%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526280"/>
            <a:ext cx="3063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OpenCV Vision Cuts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1 fps pixel deltas, HSV histograms, slide transitions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114800" y="493776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43400" y="4023360"/>
            <a:ext cx="33375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80560" y="418795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4187952"/>
            <a:ext cx="86868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90%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526280"/>
            <a:ext cx="3063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Concept Mind Map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Hierarchical concept graph synthesis, entity links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726680" y="4937760"/>
            <a:ext cx="228600" cy="22860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80" y="4023360"/>
            <a:ext cx="333756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2440" y="4187952"/>
            <a:ext cx="82296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Stage 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87000" y="4187952"/>
            <a:ext cx="86868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4526280"/>
            <a:ext cx="3063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Persistence &amp; 206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MongoDB document join, HTTP 206 stream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6. Milestone-Wise Technical Implementation Roadmap (Weeks 1–8)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600200"/>
            <a:ext cx="1005840" cy="256032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284C7"/>
                </a:solidFill>
              </a:defRPr>
            </a:pPr>
            <a:r>
              <a:t>Milestone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PASSED 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20240"/>
            <a:ext cx="220370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WEEKS 1 &amp; 2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Architecture, Auth &amp; Video Ingestion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Decoupled React 19 &amp; FastAPI architecture.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Polyglot persistence: SQLite/PostgreSQL + Atlas.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Salted Bcrypt hashing (cost 12) &amp; JWT tokens.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Chunked multipart upload handler (.mp4, .mov).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yt-dlp YouTube video and audio extractor.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FFmpeg 16kHz mono WAV audio demuxer.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657600"/>
            <a:ext cx="256032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02152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39312" y="1600200"/>
            <a:ext cx="1005840" cy="256032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E3A8A"/>
                </a:solidFill>
              </a:defRPr>
            </a:pPr>
            <a:r>
              <a:t>Milestone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2312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PASSED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1920240"/>
            <a:ext cx="220370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WEEKS 3 &amp; 4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Speech-to-Text &amp; AI Summarization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OpenAI Whisper ASR transformer model.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Word-level timestamps &amp; segment indexation.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LexRank graph centrality extractive TL;DR (&lt;1.5s).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Abstractive LLM chapters and key takeaways.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Interactive transcript viewer with click-to-seek.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Verified 4.18% WER (95.82% speech accuracy).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3657600"/>
            <a:ext cx="256032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72783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9944" y="1600200"/>
            <a:ext cx="1005840" cy="256032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t>Milestone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2944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PASSED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20240"/>
            <a:ext cx="220370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WEEKS 5 &amp; 6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Key Moments &amp; Educator Studio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OpenCV 1 fps frame deltas &amp; HSV histograms.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5-Tab Educator Studio (Transcripts to Preview).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Learner Study Room with auto-graded quizzes.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3D active recall flip flashcards with mastery.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Multi-format document exporter (PDF, DOCX, etc.).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Bidirectional WebSocket progress telemetry hub.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41664" y="3657600"/>
            <a:ext cx="256032" cy="274320"/>
          </a:xfrm>
          <a:prstGeom prst="rightArrow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43416" y="1463040"/>
            <a:ext cx="24231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10B981"/>
                </a:solidFill>
              </a:defRPr>
            </a:pPr>
            <a:r>
              <a:t>Milestone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23576" y="1600200"/>
            <a:ext cx="1005840" cy="25603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10B981"/>
                </a:solidFill>
              </a:defRPr>
            </a:pPr>
            <a:r>
              <a:t>PASSED 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4" y="1920240"/>
            <a:ext cx="2203704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WEEKS 7 &amp; 8</a:t>
            </a:r>
          </a:p>
          <a:p>
            <a:pPr>
              <a:spcAft>
                <a:spcPts val="1000"/>
              </a:spcAft>
              <a:defRPr sz="1200" b="1">
                <a:solidFill>
                  <a:srgbClr val="1E3A8A"/>
                </a:solidFill>
              </a:defRPr>
            </a:pPr>
            <a:r>
              <a:t>Zero-Loss Cloud &amp; Production Delivery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Google Drive API v3 (15GB persistent cloud).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HTTP 206 Partial Content range video proxy.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Interactive AI Concept Mind Map canvas.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Human-crafted dark/light engineering UI.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Multi-stage Dockerfiles &amp; docker-compose.yml.</a:t>
            </a:r>
          </a:p>
          <a:p>
            <a:pPr>
              <a:spcAft>
                <a:spcPts val="600"/>
              </a:spcAft>
              <a:defRPr sz="900">
                <a:solidFill>
                  <a:srgbClr val="1E293B"/>
                </a:solidFill>
              </a:defRPr>
            </a:pPr>
            <a:r>
              <a:t>• 100% automated test suite pass rate.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7. Multi-Persona Role-Based Access Control (RBAC) &amp; Educator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Content Creator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Uploads videos, ingests YouTube URLs, monitors AI pipeline, views analytics, and exports packages in PDF, DOCX, TXT, SRT, VTT.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Learner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Synchronized video player with auto-scrolling transcripts, click-to-seek, interactive auto-graded quizzes, and 3D flashcards.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C3AED"/>
                </a:solidFill>
              </a:defRPr>
            </a:pPr>
            <a:r>
              <a:t>Educator (5-Tab Studio)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1: Transcript Editor &amp; Diarization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2: Curriculum Chapters &amp; Time Bounds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3: Interactive Quiz Authoring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4: Flashcard Decks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5: Live Student Preview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21208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776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Administrator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Complete user governance, RBAC reassignment, real-time telemetry, 50+ event system audit warehouse, and 1-click cache purges.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8. Quantitative Benchmarks, Telemetry &amp; Performance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B981"/>
                </a:solidFill>
              </a:defRPr>
            </a:pPr>
            <a:r>
              <a:t>4.18%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Word Error Rate (WER)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Whisper STT achieves 95.82% transcription accuracy across studio and classroom lectures.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46.8%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ROUGE-1 Summarization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High unigram overlap with human lecture notes; ROUGE-L at 42.1% capturing structural 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0284C7"/>
                </a:solidFill>
              </a:defRPr>
            </a:pPr>
            <a:r>
              <a:t>92.4%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CV Slide Precision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OpenCV frame differencing accurately pinpoints visual presentation transitions at 1 fps.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2.6x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Real-Time Speedup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Processes a 60-minute video in just 2.6 minutes across all 7 pipeline stages.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93192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B981"/>
                </a:solidFill>
              </a:defRPr>
            </a:pPr>
            <a:r>
              <a:t>&lt; 20ms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Streaming Seek Latency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HTTP 206 range proxy delivers instant chunk delivery from disk or Google Drive.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31920"/>
            <a:ext cx="3410712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7C3AED"/>
                </a:solidFill>
              </a:defRPr>
            </a:pPr>
            <a:r>
              <a:t>100%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Verification Test Suite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Full end-to-end verification across auth, RBAC, uploads, persistence, and cascading deletion.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9. Conclusion, Technical Stack &amp; Operational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Key Accomplishments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- 100% Compliance with Infosys Springboard Project Specification.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Production-Grade Full-Stack: React 19 + FastAPI + Polyglot DB.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Zero-Loss Cloud: 15GB persistent Google Drive storage with HTTP 206 range proxy.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Multimodal AI: Whisper STT, LexRank + LLMs, OpenCV scene cut detection.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Bespoke UI Design: Human-crafted dark/light engineering UI with zero AI-generic vibe.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- Unified Docker Containerization: Tested &amp; ready for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</a:defRPr>
            </a:pPr>
            <a:r>
              <a:t>Production Technology Stack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Frontend Client: </a:t>
            </a:r>
            <a:r>
              <a:rPr b="0" sz="1000">
                <a:solidFill>
                  <a:srgbClr val="64748B"/>
                </a:solidFill>
              </a:rPr>
              <a:t>React 19, TypeScript 5.5, Vite 8.2, Tailwind CSS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API Gateway: </a:t>
            </a:r>
            <a:r>
              <a:rPr b="0" sz="1000">
                <a:solidFill>
                  <a:srgbClr val="64748B"/>
                </a:solidFill>
              </a:rPr>
              <a:t>FastAPI (Python 3.12), Uvicorn ASGI, Pydantic v2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Auth &amp; Security: </a:t>
            </a:r>
            <a:r>
              <a:rPr b="0" sz="1000">
                <a:solidFill>
                  <a:srgbClr val="64748B"/>
                </a:solidFill>
              </a:rPr>
              <a:t>OAuth2 JWT, Bcrypt hashing, Google Identity Services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Polyglot Database: </a:t>
            </a:r>
            <a:r>
              <a:rPr b="0" sz="1000">
                <a:solidFill>
                  <a:srgbClr val="64748B"/>
                </a:solidFill>
              </a:rPr>
              <a:t>SQLite / PostgreSQL (ACID) + MongoDB Atlas (Beanie ODM)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Cloud Storage: </a:t>
            </a:r>
            <a:r>
              <a:rPr b="0" sz="1000">
                <a:solidFill>
                  <a:srgbClr val="64748B"/>
                </a:solidFill>
              </a:rPr>
              <a:t>Google Drive REST API v3 (15GB Persistent Store)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AI &amp; CV Models: </a:t>
            </a:r>
            <a:r>
              <a:rPr b="0" sz="1000">
                <a:solidFill>
                  <a:srgbClr val="64748B"/>
                </a:solidFill>
              </a:rPr>
              <a:t>OpenAI Whisper ASR, LexRank, LLM APIs, OpenCV 4.9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Media Extraction: </a:t>
            </a:r>
            <a:r>
              <a:rPr b="0" sz="1000">
                <a:solidFill>
                  <a:srgbClr val="64748B"/>
                </a:solidFill>
              </a:rPr>
              <a:t>FFmpeg 6.1 (16kHz Mono WAV), yt-dlp 2024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Document Exports: </a:t>
            </a:r>
            <a:r>
              <a:rPr b="0" sz="1000">
                <a:solidFill>
                  <a:srgbClr val="64748B"/>
                </a:solidFill>
              </a:rPr>
              <a:t>ReportLab 4.1 (PDF), python-docx 1.1 (Word), SRT, VTT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DevOps / Deploy: </a:t>
            </a:r>
            <a:r>
              <a:rPr b="0" sz="1000">
                <a:solidFill>
                  <a:srgbClr val="64748B"/>
                </a:solidFill>
              </a:rPr>
              <a:t>Docker Multi-Stage, Docker Compose, Render 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