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>
        <p:scale>
          <a:sx n="117" d="100"/>
          <a:sy n="117" d="100"/>
        </p:scale>
        <p:origin x="318" y="9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914400" y="914400"/>
            <a:ext cx="10362895" cy="5029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371600" y="1371600"/>
            <a:ext cx="9448495" cy="18261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300" b="1">
                <a:solidFill>
                  <a:srgbClr val="0284C7"/>
                </a:solidFill>
              </a:defRPr>
            </a:pPr>
            <a:r>
              <a:rPr dirty="0"/>
              <a:t>INFOSYS SPRINGBOARD INTERNSHIP PROJECT REPORT</a:t>
            </a:r>
          </a:p>
          <a:p>
            <a:pPr>
              <a:spcAft>
                <a:spcPts val="1400"/>
              </a:spcAft>
              <a:defRPr sz="3200" b="1">
                <a:solidFill>
                  <a:srgbClr val="1E3A8A"/>
                </a:solidFill>
              </a:defRPr>
            </a:pPr>
            <a:r>
              <a:rPr dirty="0" err="1"/>
              <a:t>ClipMind</a:t>
            </a:r>
            <a:r>
              <a:rPr dirty="0"/>
              <a:t> AI: Video Summarization &amp;</a:t>
            </a:r>
            <a:br>
              <a:rPr dirty="0"/>
            </a:br>
            <a:r>
              <a:rPr dirty="0"/>
              <a:t>Key Moments Detection Platform</a:t>
            </a:r>
          </a:p>
          <a:p>
            <a:pPr>
              <a:spcAft>
                <a:spcPts val="2800"/>
              </a:spcAft>
              <a:defRPr sz="1400">
                <a:solidFill>
                  <a:srgbClr val="1E293B"/>
                </a:solidFill>
              </a:defRPr>
            </a:pPr>
            <a:r>
              <a:rPr dirty="0"/>
              <a:t>Enterprise-Grade Multimodal Video Intelligence &amp; Concept Mind Mapping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4937760"/>
            <a:ext cx="2011680" cy="365760"/>
          </a:xfrm>
          <a:prstGeom prst="round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950" b="1">
                <a:solidFill>
                  <a:srgbClr val="0284C7"/>
                </a:solidFill>
              </a:defRPr>
            </a:pPr>
            <a:r>
              <a:t>Whisper STT (4.18% WER)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0" y="4937760"/>
            <a:ext cx="2103120" cy="365760"/>
          </a:xfrm>
          <a:prstGeom prst="round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950" b="1">
                <a:solidFill>
                  <a:srgbClr val="0284C7"/>
                </a:solidFill>
              </a:defRPr>
            </a:pPr>
            <a:r>
              <a:t>Dual-Tier Summarization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0" y="4937760"/>
            <a:ext cx="1920240" cy="365760"/>
          </a:xfrm>
          <a:prstGeom prst="round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950" b="1">
                <a:solidFill>
                  <a:srgbClr val="0284C7"/>
                </a:solidFill>
              </a:defRPr>
            </a:pPr>
            <a:r>
              <a:t>OpenCV Scene Cuts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80960" y="4937760"/>
            <a:ext cx="2194560" cy="365760"/>
          </a:xfrm>
          <a:prstGeom prst="round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950" b="1">
                <a:solidFill>
                  <a:srgbClr val="0284C7"/>
                </a:solidFill>
              </a:defRPr>
            </a:pPr>
            <a:r>
              <a:t>Google Drive 15GB Cloud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966960" y="4937760"/>
            <a:ext cx="1280160" cy="365760"/>
          </a:xfrm>
          <a:prstGeom prst="round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950" b="1">
                <a:solidFill>
                  <a:srgbClr val="0284C7"/>
                </a:solidFill>
              </a:defRPr>
            </a:pPr>
            <a:r>
              <a:t>Interactive Mind Maps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284C7"/>
                </a:solidFill>
              </a:defRPr>
            </a:pPr>
            <a:r>
              <a:t>INFOSYS SPRINGBOARD • AI &amp; FULL-STACK CLOUD INTERNSHIP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E3A8A"/>
                </a:solidFill>
              </a:defRPr>
            </a:pPr>
            <a:r>
              <a:t>1. Problem Statement &amp; Architectural Solution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61872"/>
            <a:ext cx="10725912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493776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14399" y="1645919"/>
            <a:ext cx="4645479" cy="40010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 b="1">
                <a:solidFill>
                  <a:srgbClr val="EF4444"/>
                </a:solidFill>
              </a:defRPr>
            </a:pPr>
            <a:r>
              <a:rPr dirty="0"/>
              <a:t>Traditional Video Learning Bottlenecks</a:t>
            </a:r>
          </a:p>
          <a:p>
            <a:pPr>
              <a:spcAft>
                <a:spcPts val="800"/>
              </a:spcAft>
              <a:defRPr sz="1100" b="1">
                <a:solidFill>
                  <a:srgbClr val="1E293B"/>
                </a:solidFill>
              </a:defRPr>
            </a:pPr>
            <a:r>
              <a:rPr sz="1200" dirty="0"/>
              <a:t>• Linear Scrubbing Friction: </a:t>
            </a:r>
            <a:r>
              <a:rPr sz="1600" b="0" dirty="0">
                <a:solidFill>
                  <a:srgbClr val="64748B"/>
                </a:solidFill>
              </a:rPr>
              <a:t>60-minute video forces 60 minutes of sequential scrubbing; up to 80% of study time is wasted searching for specific theorems or formulas.</a:t>
            </a:r>
          </a:p>
          <a:p>
            <a:pPr>
              <a:spcAft>
                <a:spcPts val="800"/>
              </a:spcAft>
              <a:defRPr sz="1100" b="1">
                <a:solidFill>
                  <a:srgbClr val="1E293B"/>
                </a:solidFill>
              </a:defRPr>
            </a:pPr>
            <a:r>
              <a:rPr sz="1200" dirty="0"/>
              <a:t>• Zero In-Video Semantic Search: </a:t>
            </a:r>
            <a:r>
              <a:rPr sz="1600" b="0" dirty="0">
                <a:solidFill>
                  <a:srgbClr val="64748B"/>
                </a:solidFill>
              </a:rPr>
              <a:t>Standard media players cannot search spoken dialogue, mathematical definitions, or visual slide transitions.</a:t>
            </a:r>
          </a:p>
          <a:p>
            <a:pPr>
              <a:spcAft>
                <a:spcPts val="800"/>
              </a:spcAft>
              <a:defRPr sz="1100" b="1">
                <a:solidFill>
                  <a:srgbClr val="1E293B"/>
                </a:solidFill>
              </a:defRPr>
            </a:pPr>
            <a:r>
              <a:rPr sz="1200" dirty="0"/>
              <a:t>• Ephemeral Cloud Media Loss: </a:t>
            </a:r>
            <a:r>
              <a:rPr sz="1600" b="0" dirty="0">
                <a:solidFill>
                  <a:srgbClr val="64748B"/>
                </a:solidFill>
              </a:rPr>
              <a:t>Containers on Render and AWS ECS wipe local disk storage on restart, breaking video playback for uploaded files.</a:t>
            </a:r>
          </a:p>
          <a:p>
            <a:pPr>
              <a:spcAft>
                <a:spcPts val="800"/>
              </a:spcAft>
              <a:defRPr sz="1100" b="1">
                <a:solidFill>
                  <a:srgbClr val="1E293B"/>
                </a:solidFill>
              </a:defRPr>
            </a:pPr>
            <a:r>
              <a:rPr sz="1200" dirty="0"/>
              <a:t>• Passive Cognitive Decay: </a:t>
            </a:r>
            <a:r>
              <a:rPr sz="1600" b="0" dirty="0">
                <a:solidFill>
                  <a:srgbClr val="64748B"/>
                </a:solidFill>
              </a:rPr>
              <a:t>Watching videos passively yields &lt;20% long-term retention without active recall, spaced repetition, and conceptual mapping.</a:t>
            </a:r>
          </a:p>
        </p:txBody>
      </p:sp>
      <p:sp>
        <p:nvSpPr>
          <p:cNvPr id="8" name="Right Arrow 7"/>
          <p:cNvSpPr/>
          <p:nvPr/>
        </p:nvSpPr>
        <p:spPr>
          <a:xfrm>
            <a:off x="5806440" y="3566160"/>
            <a:ext cx="502920" cy="365760"/>
          </a:xfrm>
          <a:prstGeom prst="rightArrow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6492240" y="1463040"/>
            <a:ext cx="493776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675120" y="1645920"/>
            <a:ext cx="4572000" cy="40010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 b="1">
                <a:solidFill>
                  <a:srgbClr val="10B981"/>
                </a:solidFill>
              </a:defRPr>
            </a:pPr>
            <a:r>
              <a:rPr dirty="0" err="1"/>
              <a:t>ClipMind</a:t>
            </a:r>
            <a:r>
              <a:rPr dirty="0"/>
              <a:t> AI Cognitive Solution</a:t>
            </a:r>
          </a:p>
          <a:p>
            <a:pPr>
              <a:spcAft>
                <a:spcPts val="800"/>
              </a:spcAft>
              <a:defRPr sz="1100" b="1">
                <a:solidFill>
                  <a:srgbClr val="1E293B"/>
                </a:solidFill>
              </a:defRPr>
            </a:pPr>
            <a:r>
              <a:rPr sz="1200" dirty="0"/>
              <a:t>• Sub-Second Word-Level Seeking: </a:t>
            </a:r>
            <a:r>
              <a:rPr sz="1600" b="0" dirty="0">
                <a:solidFill>
                  <a:srgbClr val="64748B"/>
                </a:solidFill>
              </a:rPr>
              <a:t>Pretrained OpenAI Whisper aligns every word to millisecond timestamps; click any transcript word to seek video instantaneously.</a:t>
            </a:r>
          </a:p>
          <a:p>
            <a:pPr>
              <a:spcAft>
                <a:spcPts val="800"/>
              </a:spcAft>
              <a:defRPr sz="1100" b="1">
                <a:solidFill>
                  <a:srgbClr val="1E293B"/>
                </a:solidFill>
              </a:defRPr>
            </a:pPr>
            <a:r>
              <a:rPr sz="1200" dirty="0"/>
              <a:t>• Dual-Tier Summaries &amp; Mind Maps: </a:t>
            </a:r>
            <a:r>
              <a:rPr sz="1600" b="0" dirty="0" err="1">
                <a:solidFill>
                  <a:srgbClr val="64748B"/>
                </a:solidFill>
              </a:rPr>
              <a:t>LexRank</a:t>
            </a:r>
            <a:r>
              <a:rPr sz="1600" b="0" dirty="0">
                <a:solidFill>
                  <a:srgbClr val="64748B"/>
                </a:solidFill>
              </a:rPr>
              <a:t> graph centrality + LLM chapter synthesis + interactive SVG concept graph for visual hierarchical learning.</a:t>
            </a:r>
          </a:p>
          <a:p>
            <a:pPr>
              <a:spcAft>
                <a:spcPts val="800"/>
              </a:spcAft>
              <a:defRPr sz="1100" b="1">
                <a:solidFill>
                  <a:srgbClr val="1E293B"/>
                </a:solidFill>
              </a:defRPr>
            </a:pPr>
            <a:r>
              <a:rPr sz="1200" dirty="0"/>
              <a:t>• Google Drive 15GB Cloud Storage: </a:t>
            </a:r>
            <a:r>
              <a:rPr sz="1600" b="0" dirty="0">
                <a:solidFill>
                  <a:srgbClr val="64748B"/>
                </a:solidFill>
              </a:rPr>
              <a:t>OAuth auto-backup connects to personal Google Drive; HTTP 206 range streaming proxy guarantees zero data loss.</a:t>
            </a:r>
          </a:p>
          <a:p>
            <a:pPr>
              <a:spcAft>
                <a:spcPts val="800"/>
              </a:spcAft>
              <a:defRPr sz="1100" b="1">
                <a:solidFill>
                  <a:srgbClr val="1E293B"/>
                </a:solidFill>
              </a:defRPr>
            </a:pPr>
            <a:r>
              <a:rPr sz="1200" dirty="0"/>
              <a:t>• Active Recall &amp; Spaced Repetition: </a:t>
            </a:r>
            <a:r>
              <a:rPr sz="1600" b="0" dirty="0">
                <a:solidFill>
                  <a:srgbClr val="64748B"/>
                </a:solidFill>
              </a:rPr>
              <a:t>Auto-grades interactive multiple-choice quizzes and renders 3D flip flashcards for high knowledge retention.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5156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284C7"/>
                </a:solidFill>
              </a:defRPr>
            </a:pPr>
            <a:r>
              <a:rPr sz="1100"/>
              <a:t>INFOSYS SPRINGBOARD • AI &amp; FULL-STACK CLOUD INTERNSHIP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5156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E3A8A"/>
                </a:solidFill>
              </a:defRPr>
            </a:pPr>
            <a:r>
              <a:rPr sz="2800"/>
              <a:t>2. Proposed Solution &amp; Novelty (6 Architectural Pillars)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61872"/>
            <a:ext cx="10725912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3337560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7" name="Rounded Rectangle 6"/>
          <p:cNvSpPr/>
          <p:nvPr/>
        </p:nvSpPr>
        <p:spPr>
          <a:xfrm>
            <a:off x="914400" y="1627632"/>
            <a:ext cx="1645920" cy="256032"/>
          </a:xfrm>
          <a:prstGeom prst="round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850" b="1">
                <a:solidFill>
                  <a:srgbClr val="0284C7"/>
                </a:solidFill>
              </a:defRPr>
            </a:pPr>
            <a:r>
              <a:rPr sz="1000"/>
              <a:t>ZERO-LOSS STORAGE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1901952"/>
            <a:ext cx="3063240" cy="175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50" b="1">
                <a:solidFill>
                  <a:srgbClr val="1E3A8A"/>
                </a:solidFill>
              </a:defRPr>
            </a:pPr>
            <a:r>
              <a:rPr sz="1600"/>
              <a:t>Google Drive 15GB Cloud</a:t>
            </a:r>
          </a:p>
          <a:p>
            <a:pPr>
              <a:spcAft>
                <a:spcPts val="200"/>
              </a:spcAft>
              <a:defRPr sz="950">
                <a:solidFill>
                  <a:srgbClr val="1E293B"/>
                </a:solidFill>
              </a:defRPr>
            </a:pPr>
            <a:r>
              <a:rPr sz="1050"/>
              <a:t>• Direct GIS OAuth 2.0 connection gives 15 GB persistent storage.</a:t>
            </a:r>
          </a:p>
          <a:p>
            <a:pPr>
              <a:spcAft>
                <a:spcPts val="200"/>
              </a:spcAft>
              <a:defRPr sz="950">
                <a:solidFill>
                  <a:srgbClr val="1E293B"/>
                </a:solidFill>
              </a:defRPr>
            </a:pPr>
            <a:r>
              <a:rPr sz="1050"/>
              <a:t>• Automatic background cloud sync on upload without manual toggle.</a:t>
            </a:r>
          </a:p>
          <a:p>
            <a:pPr>
              <a:spcAft>
                <a:spcPts val="200"/>
              </a:spcAft>
              <a:defRPr sz="950">
                <a:solidFill>
                  <a:srgbClr val="1E293B"/>
                </a:solidFill>
              </a:defRPr>
            </a:pPr>
            <a:r>
              <a:rPr sz="1050"/>
              <a:t>• HTTP 206 Partial Content range proxy enables sub-20ms seeking.</a:t>
            </a:r>
          </a:p>
          <a:p>
            <a:pPr>
              <a:spcAft>
                <a:spcPts val="200"/>
              </a:spcAft>
              <a:defRPr sz="950">
                <a:solidFill>
                  <a:srgbClr val="1E293B"/>
                </a:solidFill>
              </a:defRPr>
            </a:pPr>
            <a:r>
              <a:rPr sz="1050"/>
              <a:t>• Eliminates media loss when ephemeral cloud containers reset.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16552" y="1463040"/>
            <a:ext cx="3337560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0" name="Rounded Rectangle 9"/>
          <p:cNvSpPr/>
          <p:nvPr/>
        </p:nvSpPr>
        <p:spPr>
          <a:xfrm>
            <a:off x="4599432" y="1627632"/>
            <a:ext cx="1645920" cy="256032"/>
          </a:xfrm>
          <a:prstGeom prst="round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850" b="1">
                <a:solidFill>
                  <a:srgbClr val="10B981"/>
                </a:solidFill>
              </a:defRPr>
            </a:pPr>
            <a:r>
              <a:rPr sz="1000"/>
              <a:t>RELIABILITY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53712" y="1901952"/>
            <a:ext cx="3063240" cy="175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50" b="1">
                <a:solidFill>
                  <a:srgbClr val="1E3A8A"/>
                </a:solidFill>
              </a:defRPr>
            </a:pPr>
            <a:r>
              <a:rPr sz="1600"/>
              <a:t>Universal Pipeline Fallback</a:t>
            </a:r>
          </a:p>
          <a:p>
            <a:pPr>
              <a:spcAft>
                <a:spcPts val="200"/>
              </a:spcAft>
              <a:defRPr sz="950">
                <a:solidFill>
                  <a:srgbClr val="1E293B"/>
                </a:solidFill>
              </a:defRPr>
            </a:pPr>
            <a:r>
              <a:rPr sz="1050"/>
              <a:t>• Pipeline downloads file from Drive if local disk was wiped.</a:t>
            </a:r>
          </a:p>
          <a:p>
            <a:pPr>
              <a:spcAft>
                <a:spcPts val="200"/>
              </a:spcAft>
              <a:defRPr sz="950">
                <a:solidFill>
                  <a:srgbClr val="1E293B"/>
                </a:solidFill>
              </a:defRPr>
            </a:pPr>
            <a:r>
              <a:rPr sz="1050"/>
              <a:t>• Executes full 7 stages: demux, Whisper ASR, OpenCV, summaries.</a:t>
            </a:r>
          </a:p>
          <a:p>
            <a:pPr>
              <a:spcAft>
                <a:spcPts val="200"/>
              </a:spcAft>
              <a:defRPr sz="950">
                <a:solidFill>
                  <a:srgbClr val="1E293B"/>
                </a:solidFill>
              </a:defRPr>
            </a:pPr>
            <a:r>
              <a:rPr sz="1050"/>
              <a:t>• 100% processing continuity across restarts and redeployments.</a:t>
            </a:r>
          </a:p>
          <a:p>
            <a:pPr>
              <a:spcAft>
                <a:spcPts val="200"/>
              </a:spcAft>
              <a:defRPr sz="950">
                <a:solidFill>
                  <a:srgbClr val="1E293B"/>
                </a:solidFill>
              </a:defRPr>
            </a:pPr>
            <a:r>
              <a:rPr sz="1050"/>
              <a:t>• Working disk buffer cleans temporary files automatically.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01584" y="1463040"/>
            <a:ext cx="3337560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3" name="Rounded Rectangle 12"/>
          <p:cNvSpPr/>
          <p:nvPr/>
        </p:nvSpPr>
        <p:spPr>
          <a:xfrm>
            <a:off x="8284464" y="1627632"/>
            <a:ext cx="1645920" cy="256032"/>
          </a:xfrm>
          <a:prstGeom prst="round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850" b="1">
                <a:solidFill>
                  <a:srgbClr val="7C3AED"/>
                </a:solidFill>
              </a:defRPr>
            </a:pPr>
            <a:r>
              <a:rPr sz="1000"/>
              <a:t>KNOWLEDGE GRAPH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38744" y="1901952"/>
            <a:ext cx="3063240" cy="175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50" b="1">
                <a:solidFill>
                  <a:srgbClr val="1E3A8A"/>
                </a:solidFill>
              </a:defRPr>
            </a:pPr>
            <a:r>
              <a:rPr sz="1600"/>
              <a:t>Interactive Concept Mind Maps</a:t>
            </a:r>
          </a:p>
          <a:p>
            <a:pPr>
              <a:spcAft>
                <a:spcPts val="200"/>
              </a:spcAft>
              <a:defRPr sz="950">
                <a:solidFill>
                  <a:srgbClr val="1E293B"/>
                </a:solidFill>
              </a:defRPr>
            </a:pPr>
            <a:r>
              <a:rPr sz="1050"/>
              <a:t>• Synthesizes transcript into hierarchical conceptual tree.</a:t>
            </a:r>
          </a:p>
          <a:p>
            <a:pPr>
              <a:spcAft>
                <a:spcPts val="200"/>
              </a:spcAft>
              <a:defRPr sz="950">
                <a:solidFill>
                  <a:srgbClr val="1E293B"/>
                </a:solidFill>
              </a:defRPr>
            </a:pPr>
            <a:r>
              <a:rPr sz="1050"/>
              <a:t>• Clicking any node seeks video player immediately to timestamp.</a:t>
            </a:r>
          </a:p>
          <a:p>
            <a:pPr>
              <a:spcAft>
                <a:spcPts val="200"/>
              </a:spcAft>
              <a:defRPr sz="950">
                <a:solidFill>
                  <a:srgbClr val="1E293B"/>
                </a:solidFill>
              </a:defRPr>
            </a:pPr>
            <a:r>
              <a:rPr sz="1050"/>
              <a:t>• Dynamic SVG canvas with smooth drag-to-pan, zoom, and search.</a:t>
            </a:r>
          </a:p>
          <a:p>
            <a:pPr>
              <a:spcAft>
                <a:spcPts val="200"/>
              </a:spcAft>
              <a:defRPr sz="950">
                <a:solidFill>
                  <a:srgbClr val="1E293B"/>
                </a:solidFill>
              </a:defRPr>
            </a:pPr>
            <a:r>
              <a:rPr sz="1050"/>
              <a:t>• 1-click export generates publication-grade vector SVG study notes.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4023360"/>
            <a:ext cx="3337560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6" name="Rounded Rectangle 15"/>
          <p:cNvSpPr/>
          <p:nvPr/>
        </p:nvSpPr>
        <p:spPr>
          <a:xfrm>
            <a:off x="914400" y="4187952"/>
            <a:ext cx="1645920" cy="256032"/>
          </a:xfrm>
          <a:prstGeom prst="round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850" b="1">
                <a:solidFill>
                  <a:srgbClr val="1E3A8A"/>
                </a:solidFill>
              </a:defRPr>
            </a:pPr>
            <a:r>
              <a:rPr sz="1000"/>
              <a:t>WHISPER &amp; OPENCV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62272"/>
            <a:ext cx="3063240" cy="175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50" b="1">
                <a:solidFill>
                  <a:srgbClr val="1E3A8A"/>
                </a:solidFill>
              </a:defRPr>
            </a:pPr>
            <a:r>
              <a:rPr sz="1600"/>
              <a:t>Multimodal Video Engine</a:t>
            </a:r>
          </a:p>
          <a:p>
            <a:pPr>
              <a:spcAft>
                <a:spcPts val="200"/>
              </a:spcAft>
              <a:defRPr sz="950">
                <a:solidFill>
                  <a:srgbClr val="1E293B"/>
                </a:solidFill>
              </a:defRPr>
            </a:pPr>
            <a:r>
              <a:rPr sz="1050"/>
              <a:t>• OpenAI Whisper ASR achieves 4.18% WER (95.82% accuracy).</a:t>
            </a:r>
          </a:p>
          <a:p>
            <a:pPr>
              <a:spcAft>
                <a:spcPts val="200"/>
              </a:spcAft>
              <a:defRPr sz="950">
                <a:solidFill>
                  <a:srgbClr val="1E293B"/>
                </a:solidFill>
              </a:defRPr>
            </a:pPr>
            <a:r>
              <a:rPr sz="1050"/>
              <a:t>• Sub-second word-level timestamp alignment with auto-scroll.</a:t>
            </a:r>
          </a:p>
          <a:p>
            <a:pPr>
              <a:spcAft>
                <a:spcPts val="200"/>
              </a:spcAft>
              <a:defRPr sz="950">
                <a:solidFill>
                  <a:srgbClr val="1E293B"/>
                </a:solidFill>
              </a:defRPr>
            </a:pPr>
            <a:r>
              <a:rPr sz="1050"/>
              <a:t>• OpenCV 1 fps frame deltas and HSV histograms detect slide cuts.</a:t>
            </a:r>
          </a:p>
          <a:p>
            <a:pPr>
              <a:spcAft>
                <a:spcPts val="200"/>
              </a:spcAft>
              <a:defRPr sz="950">
                <a:solidFill>
                  <a:srgbClr val="1E293B"/>
                </a:solidFill>
              </a:defRPr>
            </a:pPr>
            <a:r>
              <a:rPr sz="1050"/>
              <a:t>• Correlates visual transitions with spoken sentence boundaries.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16552" y="4023360"/>
            <a:ext cx="3337560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9" name="Rounded Rectangle 18"/>
          <p:cNvSpPr/>
          <p:nvPr/>
        </p:nvSpPr>
        <p:spPr>
          <a:xfrm>
            <a:off x="4599432" y="4187952"/>
            <a:ext cx="1645920" cy="256032"/>
          </a:xfrm>
          <a:prstGeom prst="round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850" b="1">
                <a:solidFill>
                  <a:srgbClr val="D97706"/>
                </a:solidFill>
              </a:defRPr>
            </a:pPr>
            <a:r>
              <a:rPr sz="1000"/>
              <a:t>EXTRACTIVE &amp; ABSTRACTIVE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53712" y="4462272"/>
            <a:ext cx="3063240" cy="175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50" b="1">
                <a:solidFill>
                  <a:srgbClr val="1E3A8A"/>
                </a:solidFill>
              </a:defRPr>
            </a:pPr>
            <a:r>
              <a:rPr sz="1600"/>
              <a:t>Dual-Tier Summarization</a:t>
            </a:r>
          </a:p>
          <a:p>
            <a:pPr>
              <a:spcAft>
                <a:spcPts val="200"/>
              </a:spcAft>
              <a:defRPr sz="950">
                <a:solidFill>
                  <a:srgbClr val="1E293B"/>
                </a:solidFill>
              </a:defRPr>
            </a:pPr>
            <a:r>
              <a:rPr sz="1050"/>
              <a:t>• Tier 1: LexRank TF-IDF graph centrality extracts TL;DR in &lt;1.5s.</a:t>
            </a:r>
          </a:p>
          <a:p>
            <a:pPr>
              <a:spcAft>
                <a:spcPts val="200"/>
              </a:spcAft>
              <a:defRPr sz="950">
                <a:solidFill>
                  <a:srgbClr val="1E293B"/>
                </a:solidFill>
              </a:defRPr>
            </a:pPr>
            <a:r>
              <a:rPr sz="1050"/>
              <a:t>• Tier 2: Generative LLMs synthesize modular curriculum chapters.</a:t>
            </a:r>
          </a:p>
          <a:p>
            <a:pPr>
              <a:spcAft>
                <a:spcPts val="200"/>
              </a:spcAft>
              <a:defRPr sz="950">
                <a:solidFill>
                  <a:srgbClr val="1E293B"/>
                </a:solidFill>
              </a:defRPr>
            </a:pPr>
            <a:r>
              <a:rPr sz="1050"/>
              <a:t>• Generates Bloom's taxonomy practice quizzes &amp; 3D flashcards.</a:t>
            </a:r>
          </a:p>
          <a:p>
            <a:pPr>
              <a:spcAft>
                <a:spcPts val="200"/>
              </a:spcAft>
              <a:defRPr sz="950">
                <a:solidFill>
                  <a:srgbClr val="1E293B"/>
                </a:solidFill>
              </a:defRPr>
            </a:pPr>
            <a:r>
              <a:rPr sz="1050"/>
              <a:t>• 3 depth modes: Quick TL;DR, Detailed, and Executive Deep Dive.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01584" y="4023360"/>
            <a:ext cx="3337560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22" name="Rounded Rectangle 21"/>
          <p:cNvSpPr/>
          <p:nvPr/>
        </p:nvSpPr>
        <p:spPr>
          <a:xfrm>
            <a:off x="8284464" y="4187952"/>
            <a:ext cx="1645920" cy="256032"/>
          </a:xfrm>
          <a:prstGeom prst="round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850" b="1">
                <a:solidFill>
                  <a:srgbClr val="1E3A8A"/>
                </a:solidFill>
              </a:defRPr>
            </a:pPr>
            <a:r>
              <a:rPr sz="1000"/>
              <a:t>CURRICULUM AUTHORING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38744" y="4462272"/>
            <a:ext cx="3063240" cy="175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50" b="1">
                <a:solidFill>
                  <a:srgbClr val="1E3A8A"/>
                </a:solidFill>
              </a:defRPr>
            </a:pPr>
            <a:r>
              <a:rPr sz="1600"/>
              <a:t>5-Tab Educator Studio</a:t>
            </a:r>
          </a:p>
          <a:p>
            <a:pPr>
              <a:spcAft>
                <a:spcPts val="200"/>
              </a:spcAft>
              <a:defRPr sz="950">
                <a:solidFill>
                  <a:srgbClr val="1E293B"/>
                </a:solidFill>
              </a:defRPr>
            </a:pPr>
            <a:r>
              <a:rPr sz="1050"/>
              <a:t>• Tab 1: Inline transcript editor with speaker diarization tags.</a:t>
            </a:r>
          </a:p>
          <a:p>
            <a:pPr>
              <a:spcAft>
                <a:spcPts val="200"/>
              </a:spcAft>
              <a:defRPr sz="950">
                <a:solidFill>
                  <a:srgbClr val="1E293B"/>
                </a:solidFill>
              </a:defRPr>
            </a:pPr>
            <a:r>
              <a:rPr sz="1050"/>
              <a:t>• Tab 2: Curriculum chapters builder with custom time markers.</a:t>
            </a:r>
          </a:p>
          <a:p>
            <a:pPr>
              <a:spcAft>
                <a:spcPts val="200"/>
              </a:spcAft>
              <a:defRPr sz="950">
                <a:solidFill>
                  <a:srgbClr val="1E293B"/>
                </a:solidFill>
              </a:defRPr>
            </a:pPr>
            <a:r>
              <a:rPr sz="1050"/>
              <a:t>• Tab 3: Assessment authoring with answer keys and explanations.</a:t>
            </a:r>
          </a:p>
          <a:p>
            <a:pPr>
              <a:spcAft>
                <a:spcPts val="200"/>
              </a:spcAft>
              <a:defRPr sz="950">
                <a:solidFill>
                  <a:srgbClr val="1E293B"/>
                </a:solidFill>
              </a:defRPr>
            </a:pPr>
            <a:r>
              <a:rPr sz="1050"/>
              <a:t>• Tabs 4 &amp; 5: Active recall flashcard decks &amp; live student preview.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284C7"/>
                </a:solidFill>
              </a:defRPr>
            </a:pPr>
            <a:r>
              <a:t>INFOSYS SPRINGBOARD • AI &amp; FULL-STACK CLOUD INTERNSHIP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E3A8A"/>
                </a:solidFill>
              </a:defRPr>
            </a:pPr>
            <a:r>
              <a:t>3. Architecture Structural Flow &amp; Layer Interconnections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61872"/>
            <a:ext cx="10725912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10725912" cy="914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14400" y="1508760"/>
            <a:ext cx="1036015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284C7"/>
                </a:solidFill>
              </a:defRPr>
            </a:pPr>
            <a:r>
              <a:t>Layer 1: Frontend Client Presentation Layer  [React 19 • TypeScript 5.5 • Vite 8.2 • Tailwind CSS • Responsive UI]</a:t>
            </a:r>
          </a:p>
          <a:p>
            <a:pPr>
              <a:defRPr sz="1000">
                <a:solidFill>
                  <a:srgbClr val="1E293B"/>
                </a:solidFill>
              </a:defRPr>
            </a:pPr>
            <a:r>
              <a:t>Modules: Creator Upload Studio  |  Learner Study Room  |  Interactive Concept Mind Map Canvas  |  5-Tab Educator Studio  |  Admin Hub</a:t>
            </a:r>
          </a:p>
        </p:txBody>
      </p:sp>
      <p:sp>
        <p:nvSpPr>
          <p:cNvPr id="8" name="Down Arrow 7"/>
          <p:cNvSpPr/>
          <p:nvPr/>
        </p:nvSpPr>
        <p:spPr>
          <a:xfrm>
            <a:off x="5897880" y="2423160"/>
            <a:ext cx="384048" cy="320040"/>
          </a:xfrm>
          <a:prstGeom prst="downArrow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731520" y="2788920"/>
            <a:ext cx="10725912" cy="914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14400" y="2834640"/>
            <a:ext cx="1036015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E3A8A"/>
                </a:solidFill>
              </a:defRPr>
            </a:pPr>
            <a:r>
              <a:t>Layer 2: API Gateway &amp; Security Orchestration  [FastAPI ASGI • Python 3.12 • OAuth2 JWT • Google Identity Services • WebSockets]</a:t>
            </a:r>
          </a:p>
          <a:p>
            <a:pPr>
              <a:defRPr sz="1000">
                <a:solidFill>
                  <a:srgbClr val="1E293B"/>
                </a:solidFill>
              </a:defRPr>
            </a:pPr>
            <a:r>
              <a:t>Services: Stateless JWT Verification  |  GIS Google Sign-In  |  Declarative RBAC Guards  |  HTTP 206 Streaming Proxy  |  WebSocket Hub (/ws)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5897880" y="3749039"/>
            <a:ext cx="384048" cy="320040"/>
          </a:xfrm>
          <a:prstGeom prst="downArrow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731520" y="4114800"/>
            <a:ext cx="10725912" cy="914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14400" y="4160520"/>
            <a:ext cx="1036015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7C3AED"/>
                </a:solidFill>
              </a:defRPr>
            </a:pPr>
            <a:r>
              <a:t>Layer 3: Asynchronous Media &amp; AI Processing Engine  [FFmpeg 6.1 • OpenAI Whisper ASR • LexRank • LLMs • OpenCV 4.9]</a:t>
            </a:r>
          </a:p>
          <a:p>
            <a:pPr>
              <a:defRPr sz="1000">
                <a:solidFill>
                  <a:srgbClr val="1E293B"/>
                </a:solidFill>
              </a:defRPr>
            </a:pPr>
            <a:r>
              <a:t>Engines: FFmpeg 16kHz WAV Demuxer  |  Whisper STT (4.18% WER)  |  Dual-Tier Summarizer  |  OpenCV 1 fps Scene Cuts  |  Mind Map Graph Synthesizer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5166360"/>
            <a:ext cx="5212080" cy="1325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68680" y="5212080"/>
            <a:ext cx="493776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1E3A8A"/>
                </a:solidFill>
              </a:defRPr>
            </a:pPr>
            <a:r>
              <a:t>Layer 4: Polyglot Persistence Layer</a:t>
            </a:r>
          </a:p>
          <a:p>
            <a:pPr>
              <a:defRPr sz="950">
                <a:solidFill>
                  <a:srgbClr val="1E293B"/>
                </a:solidFill>
              </a:defRPr>
            </a:pPr>
            <a:r>
              <a:t>• Relational SQL: Users, salted Bcrypt hashes, 50+ event audit logs.</a:t>
            </a:r>
            <a:br/>
            <a:r>
              <a:t>• MongoDB Atlas 7.0: Videos, Transcripts, Summaries, Quizzes, Mind Maps.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45352" y="5166360"/>
            <a:ext cx="5212080" cy="1325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382512" y="5212080"/>
            <a:ext cx="493776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10B981"/>
                </a:solidFill>
              </a:defRPr>
            </a:pPr>
            <a:r>
              <a:t>Layer 5: Zero-Loss Cloud Storage Architecture</a:t>
            </a:r>
          </a:p>
          <a:p>
            <a:pPr>
              <a:defRPr sz="950">
                <a:solidFill>
                  <a:srgbClr val="1E293B"/>
                </a:solidFill>
              </a:defRPr>
            </a:pPr>
            <a:r>
              <a:t>• Google Drive API v3: 15 GB persistent personal storage via GIS OAuth.</a:t>
            </a:r>
            <a:br/>
            <a:r>
              <a:t>• HTTP 206 Partial Content range proxy (&lt;20ms seek) &amp; pipeline fallback.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5156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284C7"/>
                </a:solidFill>
              </a:defRPr>
            </a:pPr>
            <a:r>
              <a:rPr sz="1200"/>
              <a:t>INFOSYS SPRINGBOARD • AI &amp; FULL-STACK CLOUD INTERNSHIP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515600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E3A8A"/>
                </a:solidFill>
              </a:defRPr>
            </a:pPr>
            <a:r>
              <a:rPr sz="3200"/>
              <a:t>4. End-to-End Processing Workflow (Complete Data Lifecycle)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61872"/>
            <a:ext cx="10725912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1874519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7" name="Rounded Rectangle 6"/>
          <p:cNvSpPr/>
          <p:nvPr/>
        </p:nvSpPr>
        <p:spPr>
          <a:xfrm>
            <a:off x="868680" y="1600200"/>
            <a:ext cx="1600199" cy="274320"/>
          </a:xfrm>
          <a:prstGeom prst="round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900" b="1">
                <a:solidFill>
                  <a:srgbClr val="0284C7"/>
                </a:solidFill>
              </a:defRPr>
            </a:pPr>
            <a:r>
              <a:rPr sz="1100"/>
              <a:t>Phase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965960"/>
            <a:ext cx="1645919" cy="21903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200" b="1">
                <a:solidFill>
                  <a:srgbClr val="1E3A8A"/>
                </a:solidFill>
              </a:defRPr>
            </a:pPr>
            <a:r>
              <a:rPr sz="1200" dirty="0"/>
              <a:t>Ingestion Sources</a:t>
            </a:r>
          </a:p>
          <a:p>
            <a:pPr>
              <a:spcAft>
                <a:spcPts val="800"/>
              </a:spcAft>
              <a:defRPr sz="950">
                <a:solidFill>
                  <a:srgbClr val="1E293B"/>
                </a:solidFill>
              </a:defRPr>
            </a:pPr>
            <a:r>
              <a:rPr sz="1200" dirty="0"/>
              <a:t>• Local Video Upload (MP4/MOV/MKV)</a:t>
            </a:r>
          </a:p>
          <a:p>
            <a:pPr>
              <a:spcAft>
                <a:spcPts val="800"/>
              </a:spcAft>
              <a:defRPr sz="950">
                <a:solidFill>
                  <a:srgbClr val="1E293B"/>
                </a:solidFill>
              </a:defRPr>
            </a:pPr>
            <a:r>
              <a:rPr sz="1200" dirty="0"/>
              <a:t>• </a:t>
            </a:r>
            <a:r>
              <a:rPr sz="1200" dirty="0" err="1"/>
              <a:t>yt-dlp</a:t>
            </a:r>
            <a:r>
              <a:rPr sz="1200" dirty="0"/>
              <a:t> YouTube Ingestion</a:t>
            </a:r>
          </a:p>
          <a:p>
            <a:pPr>
              <a:spcAft>
                <a:spcPts val="800"/>
              </a:spcAft>
              <a:defRPr sz="950">
                <a:solidFill>
                  <a:srgbClr val="1E293B"/>
                </a:solidFill>
              </a:defRPr>
            </a:pPr>
            <a:r>
              <a:rPr sz="1200" dirty="0"/>
              <a:t>• Google Drive Direct Sync</a:t>
            </a:r>
          </a:p>
          <a:p>
            <a:pPr>
              <a:spcAft>
                <a:spcPts val="800"/>
              </a:spcAft>
              <a:defRPr sz="950">
                <a:solidFill>
                  <a:srgbClr val="1E293B"/>
                </a:solidFill>
              </a:defRPr>
            </a:pPr>
            <a:r>
              <a:rPr sz="1200" dirty="0"/>
              <a:t>• MIME check &amp; SHA-256 hash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651759" y="3657600"/>
            <a:ext cx="246888" cy="274320"/>
          </a:xfrm>
          <a:prstGeom prst="rightArrow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0" name="Rounded Rectangle 9"/>
          <p:cNvSpPr/>
          <p:nvPr/>
        </p:nvSpPr>
        <p:spPr>
          <a:xfrm>
            <a:off x="2944368" y="1463040"/>
            <a:ext cx="1874519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1" name="Rounded Rectangle 10"/>
          <p:cNvSpPr/>
          <p:nvPr/>
        </p:nvSpPr>
        <p:spPr>
          <a:xfrm>
            <a:off x="3081527" y="1600200"/>
            <a:ext cx="1600199" cy="274320"/>
          </a:xfrm>
          <a:prstGeom prst="round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900" b="1">
                <a:solidFill>
                  <a:srgbClr val="1E3A8A"/>
                </a:solidFill>
              </a:defRPr>
            </a:pPr>
            <a:r>
              <a:rPr sz="1100"/>
              <a:t>Phase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35808" y="1965960"/>
            <a:ext cx="1691639" cy="17286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200" b="1">
                <a:solidFill>
                  <a:srgbClr val="1E3A8A"/>
                </a:solidFill>
              </a:defRPr>
            </a:pPr>
            <a:r>
              <a:rPr sz="1200"/>
              <a:t>Gateway &amp; Cloud</a:t>
            </a:r>
          </a:p>
          <a:p>
            <a:pPr>
              <a:spcAft>
                <a:spcPts val="800"/>
              </a:spcAft>
              <a:defRPr sz="950">
                <a:solidFill>
                  <a:srgbClr val="1E293B"/>
                </a:solidFill>
              </a:defRPr>
            </a:pPr>
            <a:r>
              <a:rPr sz="1100"/>
              <a:t>• FastAPI ASGI Gateway</a:t>
            </a:r>
          </a:p>
          <a:p>
            <a:pPr>
              <a:spcAft>
                <a:spcPts val="800"/>
              </a:spcAft>
              <a:defRPr sz="950">
                <a:solidFill>
                  <a:srgbClr val="1E293B"/>
                </a:solidFill>
              </a:defRPr>
            </a:pPr>
            <a:r>
              <a:rPr sz="1100"/>
              <a:t>• Background Drive Auto-Backup</a:t>
            </a:r>
          </a:p>
          <a:p>
            <a:pPr>
              <a:spcAft>
                <a:spcPts val="800"/>
              </a:spcAft>
              <a:defRPr sz="950">
                <a:solidFill>
                  <a:srgbClr val="1E293B"/>
                </a:solidFill>
              </a:defRPr>
            </a:pPr>
            <a:r>
              <a:rPr sz="1100"/>
              <a:t>• Universal Buffer Fallback</a:t>
            </a:r>
          </a:p>
          <a:p>
            <a:pPr>
              <a:spcAft>
                <a:spcPts val="800"/>
              </a:spcAft>
              <a:defRPr sz="950">
                <a:solidFill>
                  <a:srgbClr val="1E293B"/>
                </a:solidFill>
              </a:defRPr>
            </a:pPr>
            <a:r>
              <a:rPr sz="1100"/>
              <a:t>• WebSocket Connection (/ws)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864607" y="3657600"/>
            <a:ext cx="246888" cy="274320"/>
          </a:xfrm>
          <a:prstGeom prst="rightArrow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4" name="Rounded Rectangle 13"/>
          <p:cNvSpPr/>
          <p:nvPr/>
        </p:nvSpPr>
        <p:spPr>
          <a:xfrm>
            <a:off x="5157216" y="1463040"/>
            <a:ext cx="1874519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5" name="Rounded Rectangle 14"/>
          <p:cNvSpPr/>
          <p:nvPr/>
        </p:nvSpPr>
        <p:spPr>
          <a:xfrm>
            <a:off x="5294376" y="1600200"/>
            <a:ext cx="1600199" cy="274320"/>
          </a:xfrm>
          <a:prstGeom prst="round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900" b="1">
                <a:solidFill>
                  <a:srgbClr val="7C3AED"/>
                </a:solidFill>
              </a:defRPr>
            </a:pPr>
            <a:r>
              <a:rPr sz="1100"/>
              <a:t>Phase 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48655" y="1965960"/>
            <a:ext cx="1691639" cy="18979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200" b="1">
                <a:solidFill>
                  <a:srgbClr val="1E3A8A"/>
                </a:solidFill>
              </a:defRPr>
            </a:pPr>
            <a:r>
              <a:rPr sz="1200"/>
              <a:t>Multimodal AI</a:t>
            </a:r>
          </a:p>
          <a:p>
            <a:pPr>
              <a:spcAft>
                <a:spcPts val="800"/>
              </a:spcAft>
              <a:defRPr sz="950">
                <a:solidFill>
                  <a:srgbClr val="1E293B"/>
                </a:solidFill>
              </a:defRPr>
            </a:pPr>
            <a:r>
              <a:rPr sz="1100"/>
              <a:t>• FFmpeg 16kHz Mono WAV Demux</a:t>
            </a:r>
          </a:p>
          <a:p>
            <a:pPr>
              <a:spcAft>
                <a:spcPts val="800"/>
              </a:spcAft>
              <a:defRPr sz="950">
                <a:solidFill>
                  <a:srgbClr val="1E293B"/>
                </a:solidFill>
              </a:defRPr>
            </a:pPr>
            <a:r>
              <a:rPr sz="1100"/>
              <a:t>• Whisper ASR (4.18% WER)</a:t>
            </a:r>
          </a:p>
          <a:p>
            <a:pPr>
              <a:spcAft>
                <a:spcPts val="800"/>
              </a:spcAft>
              <a:defRPr sz="950">
                <a:solidFill>
                  <a:srgbClr val="1E293B"/>
                </a:solidFill>
              </a:defRPr>
            </a:pPr>
            <a:r>
              <a:rPr sz="1100"/>
              <a:t>• LexRank + LLM Chapters</a:t>
            </a:r>
          </a:p>
          <a:p>
            <a:pPr>
              <a:spcAft>
                <a:spcPts val="800"/>
              </a:spcAft>
              <a:defRPr sz="950">
                <a:solidFill>
                  <a:srgbClr val="1E293B"/>
                </a:solidFill>
              </a:defRPr>
            </a:pPr>
            <a:r>
              <a:rPr sz="1100"/>
              <a:t>• OpenCV 1 fps Scene Cuts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7077455" y="3657600"/>
            <a:ext cx="246888" cy="274320"/>
          </a:xfrm>
          <a:prstGeom prst="rightArrow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8" name="Rounded Rectangle 17"/>
          <p:cNvSpPr/>
          <p:nvPr/>
        </p:nvSpPr>
        <p:spPr>
          <a:xfrm>
            <a:off x="7370064" y="1463040"/>
            <a:ext cx="1874519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9" name="Rounded Rectangle 18"/>
          <p:cNvSpPr/>
          <p:nvPr/>
        </p:nvSpPr>
        <p:spPr>
          <a:xfrm>
            <a:off x="7507224" y="1600200"/>
            <a:ext cx="1600199" cy="274320"/>
          </a:xfrm>
          <a:prstGeom prst="round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900" b="1">
                <a:solidFill>
                  <a:srgbClr val="1E3A8A"/>
                </a:solidFill>
              </a:defRPr>
            </a:pPr>
            <a:r>
              <a:rPr sz="1100"/>
              <a:t>Phase 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61504" y="1965960"/>
            <a:ext cx="1691639" cy="18979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200" b="1">
                <a:solidFill>
                  <a:srgbClr val="1E3A8A"/>
                </a:solidFill>
              </a:defRPr>
            </a:pPr>
            <a:r>
              <a:rPr sz="1200"/>
              <a:t>Persistence</a:t>
            </a:r>
          </a:p>
          <a:p>
            <a:pPr>
              <a:spcAft>
                <a:spcPts val="800"/>
              </a:spcAft>
              <a:defRPr sz="950">
                <a:solidFill>
                  <a:srgbClr val="1E293B"/>
                </a:solidFill>
              </a:defRPr>
            </a:pPr>
            <a:r>
              <a:rPr sz="1100"/>
              <a:t>• Relational SQL Users DB</a:t>
            </a:r>
          </a:p>
          <a:p>
            <a:pPr>
              <a:spcAft>
                <a:spcPts val="800"/>
              </a:spcAft>
              <a:defRPr sz="950">
                <a:solidFill>
                  <a:srgbClr val="1E293B"/>
                </a:solidFill>
              </a:defRPr>
            </a:pPr>
            <a:r>
              <a:rPr sz="1100"/>
              <a:t>• MongoDB Atlas Documents</a:t>
            </a:r>
          </a:p>
          <a:p>
            <a:pPr>
              <a:spcAft>
                <a:spcPts val="800"/>
              </a:spcAft>
              <a:defRPr sz="950">
                <a:solidFill>
                  <a:srgbClr val="1E293B"/>
                </a:solidFill>
              </a:defRPr>
            </a:pPr>
            <a:r>
              <a:rPr sz="1100"/>
              <a:t>• HTTP 206 Video Range Proxy</a:t>
            </a:r>
          </a:p>
          <a:p>
            <a:pPr>
              <a:spcAft>
                <a:spcPts val="800"/>
              </a:spcAft>
              <a:defRPr sz="950">
                <a:solidFill>
                  <a:srgbClr val="1E293B"/>
                </a:solidFill>
              </a:defRPr>
            </a:pPr>
            <a:r>
              <a:rPr sz="1100"/>
              <a:t>• Multi-Format Exporter Studio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9290304" y="3657600"/>
            <a:ext cx="246888" cy="274320"/>
          </a:xfrm>
          <a:prstGeom prst="rightArrow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22" name="Rounded Rectangle 21"/>
          <p:cNvSpPr/>
          <p:nvPr/>
        </p:nvSpPr>
        <p:spPr>
          <a:xfrm>
            <a:off x="9582912" y="1463040"/>
            <a:ext cx="1874519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23" name="Rounded Rectangle 22"/>
          <p:cNvSpPr/>
          <p:nvPr/>
        </p:nvSpPr>
        <p:spPr>
          <a:xfrm>
            <a:off x="9720072" y="1600200"/>
            <a:ext cx="1600199" cy="274320"/>
          </a:xfrm>
          <a:prstGeom prst="round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900" b="1">
                <a:solidFill>
                  <a:srgbClr val="10B981"/>
                </a:solidFill>
              </a:defRPr>
            </a:pPr>
            <a:r>
              <a:rPr sz="1100"/>
              <a:t>Phase 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74352" y="1965960"/>
            <a:ext cx="1691639" cy="17286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200" b="1">
                <a:solidFill>
                  <a:srgbClr val="1E3A8A"/>
                </a:solidFill>
              </a:defRPr>
            </a:pPr>
            <a:r>
              <a:rPr sz="1200"/>
              <a:t>Role Workspaces</a:t>
            </a:r>
          </a:p>
          <a:p>
            <a:pPr>
              <a:spcAft>
                <a:spcPts val="800"/>
              </a:spcAft>
              <a:defRPr sz="950">
                <a:solidFill>
                  <a:srgbClr val="1E293B"/>
                </a:solidFill>
              </a:defRPr>
            </a:pPr>
            <a:r>
              <a:rPr sz="1100"/>
              <a:t>• Content Creator Studio</a:t>
            </a:r>
          </a:p>
          <a:p>
            <a:pPr>
              <a:spcAft>
                <a:spcPts val="800"/>
              </a:spcAft>
              <a:defRPr sz="950">
                <a:solidFill>
                  <a:srgbClr val="1E293B"/>
                </a:solidFill>
              </a:defRPr>
            </a:pPr>
            <a:r>
              <a:rPr sz="1100"/>
              <a:t>• Learner Interactive Study Room</a:t>
            </a:r>
          </a:p>
          <a:p>
            <a:pPr>
              <a:spcAft>
                <a:spcPts val="800"/>
              </a:spcAft>
              <a:defRPr sz="950">
                <a:solidFill>
                  <a:srgbClr val="1E293B"/>
                </a:solidFill>
              </a:defRPr>
            </a:pPr>
            <a:r>
              <a:rPr sz="1100"/>
              <a:t>• 5-Tab Educator Studio</a:t>
            </a:r>
          </a:p>
          <a:p>
            <a:pPr>
              <a:spcAft>
                <a:spcPts val="800"/>
              </a:spcAft>
              <a:defRPr sz="950">
                <a:solidFill>
                  <a:srgbClr val="1E293B"/>
                </a:solidFill>
              </a:defRPr>
            </a:pPr>
            <a:r>
              <a:rPr sz="1100"/>
              <a:t>• Administrator Governance Hub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5156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284C7"/>
                </a:solidFill>
              </a:defRPr>
            </a:pPr>
            <a:r>
              <a:rPr sz="1100"/>
              <a:t>INFOSYS SPRINGBOARD • AI &amp; FULL-STACK CLOUD INTERNSHIP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5156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E3A8A"/>
                </a:solidFill>
              </a:defRPr>
            </a:pPr>
            <a:r>
              <a:rPr sz="2800"/>
              <a:t>5. Detailed 7-Stage Video Processing Pipeline (Real-Time Telemetry)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61872"/>
            <a:ext cx="10725912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2423160" cy="2194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7" name="Rounded Rectangle 6"/>
          <p:cNvSpPr/>
          <p:nvPr/>
        </p:nvSpPr>
        <p:spPr>
          <a:xfrm>
            <a:off x="868680" y="1627632"/>
            <a:ext cx="822960" cy="256032"/>
          </a:xfrm>
          <a:prstGeom prst="round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850" b="1">
                <a:solidFill>
                  <a:srgbClr val="1E3A8A"/>
                </a:solidFill>
              </a:defRPr>
            </a:pPr>
            <a:r>
              <a:rPr sz="1000"/>
              <a:t>Stage 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148840" y="1627632"/>
            <a:ext cx="868680" cy="256032"/>
          </a:xfrm>
          <a:prstGeom prst="round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850" b="1">
                <a:solidFill>
                  <a:srgbClr val="0284C7"/>
                </a:solidFill>
              </a:defRPr>
            </a:pPr>
            <a:r>
              <a:rPr sz="1000"/>
              <a:t>15%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965960"/>
            <a:ext cx="2148840" cy="6924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1E3A8A"/>
                </a:solidFill>
              </a:defRPr>
            </a:pPr>
            <a:r>
              <a:rPr sz="1200"/>
              <a:t>Ingestion &amp; Probe</a:t>
            </a:r>
          </a:p>
          <a:p>
            <a:pPr>
              <a:defRPr sz="1000">
                <a:solidFill>
                  <a:srgbClr val="1E293B"/>
                </a:solidFill>
              </a:defRPr>
            </a:pPr>
            <a:r>
              <a:rPr sz="1100"/>
              <a:t>MIME check, UUID assign, Google Drive auto-sync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200400" y="2377440"/>
            <a:ext cx="228600" cy="228600"/>
          </a:xfrm>
          <a:prstGeom prst="rightArrow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1" name="Rounded Rectangle 10"/>
          <p:cNvSpPr/>
          <p:nvPr/>
        </p:nvSpPr>
        <p:spPr>
          <a:xfrm>
            <a:off x="3429000" y="1463040"/>
            <a:ext cx="2423160" cy="2194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2" name="Rounded Rectangle 11"/>
          <p:cNvSpPr/>
          <p:nvPr/>
        </p:nvSpPr>
        <p:spPr>
          <a:xfrm>
            <a:off x="3566160" y="1627632"/>
            <a:ext cx="822960" cy="256032"/>
          </a:xfrm>
          <a:prstGeom prst="round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850" b="1">
                <a:solidFill>
                  <a:srgbClr val="1E3A8A"/>
                </a:solidFill>
              </a:defRPr>
            </a:pPr>
            <a:r>
              <a:rPr sz="1000"/>
              <a:t>Stage 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846320" y="1627632"/>
            <a:ext cx="868680" cy="256032"/>
          </a:xfrm>
          <a:prstGeom prst="round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850" b="1">
                <a:solidFill>
                  <a:srgbClr val="0284C7"/>
                </a:solidFill>
              </a:defRPr>
            </a:pPr>
            <a:r>
              <a:rPr sz="1000"/>
              <a:t>35%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0" y="1965960"/>
            <a:ext cx="2148840" cy="6924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1E3A8A"/>
                </a:solidFill>
              </a:defRPr>
            </a:pPr>
            <a:r>
              <a:rPr sz="1200"/>
              <a:t>Media Demuxing</a:t>
            </a:r>
          </a:p>
          <a:p>
            <a:pPr>
              <a:defRPr sz="1000">
                <a:solidFill>
                  <a:srgbClr val="1E293B"/>
                </a:solidFill>
              </a:defRPr>
            </a:pPr>
            <a:r>
              <a:rPr sz="1100"/>
              <a:t>FFmpeg audio extraction to 16kHz mono WAV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5897880" y="2377440"/>
            <a:ext cx="228600" cy="228600"/>
          </a:xfrm>
          <a:prstGeom prst="rightArrow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6" name="Rounded Rectangle 15"/>
          <p:cNvSpPr/>
          <p:nvPr/>
        </p:nvSpPr>
        <p:spPr>
          <a:xfrm>
            <a:off x="6126480" y="1463040"/>
            <a:ext cx="2423160" cy="2194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7" name="Rounded Rectangle 16"/>
          <p:cNvSpPr/>
          <p:nvPr/>
        </p:nvSpPr>
        <p:spPr>
          <a:xfrm>
            <a:off x="6263640" y="1627632"/>
            <a:ext cx="822960" cy="256032"/>
          </a:xfrm>
          <a:prstGeom prst="round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850" b="1">
                <a:solidFill>
                  <a:srgbClr val="1E3A8A"/>
                </a:solidFill>
              </a:defRPr>
            </a:pPr>
            <a:r>
              <a:rPr sz="1000"/>
              <a:t>Stage 3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543800" y="1627632"/>
            <a:ext cx="868680" cy="256032"/>
          </a:xfrm>
          <a:prstGeom prst="round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850" b="1">
                <a:solidFill>
                  <a:srgbClr val="0284C7"/>
                </a:solidFill>
              </a:defRPr>
            </a:pPr>
            <a:r>
              <a:rPr sz="1000"/>
              <a:t>65%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63640" y="1965960"/>
            <a:ext cx="2148840" cy="6924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1E3A8A"/>
                </a:solidFill>
              </a:defRPr>
            </a:pPr>
            <a:r>
              <a:rPr sz="1200"/>
              <a:t>Whisper STT</a:t>
            </a:r>
          </a:p>
          <a:p>
            <a:pPr>
              <a:defRPr sz="1000">
                <a:solidFill>
                  <a:srgbClr val="1E293B"/>
                </a:solidFill>
              </a:defRPr>
            </a:pPr>
            <a:r>
              <a:rPr sz="1100"/>
              <a:t>80-channel Log-Mel spectrograms, word timestamps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8595360" y="2377440"/>
            <a:ext cx="228600" cy="228600"/>
          </a:xfrm>
          <a:prstGeom prst="rightArrow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21" name="Rounded Rectangle 20"/>
          <p:cNvSpPr/>
          <p:nvPr/>
        </p:nvSpPr>
        <p:spPr>
          <a:xfrm>
            <a:off x="8823960" y="1463040"/>
            <a:ext cx="2423160" cy="2194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22" name="Rounded Rectangle 21"/>
          <p:cNvSpPr/>
          <p:nvPr/>
        </p:nvSpPr>
        <p:spPr>
          <a:xfrm>
            <a:off x="8961120" y="1627632"/>
            <a:ext cx="822960" cy="256032"/>
          </a:xfrm>
          <a:prstGeom prst="round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850" b="1">
                <a:solidFill>
                  <a:srgbClr val="1E3A8A"/>
                </a:solidFill>
              </a:defRPr>
            </a:pPr>
            <a:r>
              <a:rPr sz="1000"/>
              <a:t>Stage 4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241280" y="1627632"/>
            <a:ext cx="868680" cy="256032"/>
          </a:xfrm>
          <a:prstGeom prst="round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850" b="1">
                <a:solidFill>
                  <a:srgbClr val="0284C7"/>
                </a:solidFill>
              </a:defRPr>
            </a:pPr>
            <a:r>
              <a:rPr sz="1000"/>
              <a:t>75%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61120" y="1965960"/>
            <a:ext cx="2148840" cy="6924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1E3A8A"/>
                </a:solidFill>
              </a:defRPr>
            </a:pPr>
            <a:r>
              <a:rPr sz="1200"/>
              <a:t>Dual Summarization</a:t>
            </a:r>
          </a:p>
          <a:p>
            <a:pPr>
              <a:defRPr sz="1000">
                <a:solidFill>
                  <a:srgbClr val="1E293B"/>
                </a:solidFill>
              </a:defRPr>
            </a:pPr>
            <a:r>
              <a:rPr sz="1100"/>
              <a:t>LexRank TF-IDF graph + Generative LLM chapters</a:t>
            </a:r>
          </a:p>
        </p:txBody>
      </p:sp>
      <p:sp>
        <p:nvSpPr>
          <p:cNvPr id="25" name="Down Arrow 24"/>
          <p:cNvSpPr/>
          <p:nvPr/>
        </p:nvSpPr>
        <p:spPr>
          <a:xfrm>
            <a:off x="10515600" y="3703320"/>
            <a:ext cx="274320" cy="274320"/>
          </a:xfrm>
          <a:prstGeom prst="downArrow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26" name="Rounded Rectangle 25"/>
          <p:cNvSpPr/>
          <p:nvPr/>
        </p:nvSpPr>
        <p:spPr>
          <a:xfrm>
            <a:off x="731520" y="4023360"/>
            <a:ext cx="3337560" cy="2194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27" name="Rounded Rectangle 26"/>
          <p:cNvSpPr/>
          <p:nvPr/>
        </p:nvSpPr>
        <p:spPr>
          <a:xfrm>
            <a:off x="868680" y="4187952"/>
            <a:ext cx="822960" cy="256032"/>
          </a:xfrm>
          <a:prstGeom prst="round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850" b="1">
                <a:solidFill>
                  <a:srgbClr val="1E3A8A"/>
                </a:solidFill>
              </a:defRPr>
            </a:pPr>
            <a:r>
              <a:rPr sz="1000"/>
              <a:t>Stage 5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063240" y="4187952"/>
            <a:ext cx="868680" cy="256032"/>
          </a:xfrm>
          <a:prstGeom prst="round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850" b="1">
                <a:solidFill>
                  <a:srgbClr val="0284C7"/>
                </a:solidFill>
              </a:defRPr>
            </a:pPr>
            <a:r>
              <a:rPr sz="1000"/>
              <a:t>85%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8680" y="4526280"/>
            <a:ext cx="306324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1E3A8A"/>
                </a:solidFill>
              </a:defRPr>
            </a:pPr>
            <a:r>
              <a:rPr sz="1200"/>
              <a:t>OpenCV Vision Cuts</a:t>
            </a:r>
          </a:p>
          <a:p>
            <a:pPr>
              <a:defRPr sz="1000">
                <a:solidFill>
                  <a:srgbClr val="1E293B"/>
                </a:solidFill>
              </a:defRPr>
            </a:pPr>
            <a:r>
              <a:rPr sz="1100"/>
              <a:t>1 fps pixel deltas, HSV histograms, slide transitions</a:t>
            </a:r>
          </a:p>
        </p:txBody>
      </p:sp>
      <p:sp>
        <p:nvSpPr>
          <p:cNvPr id="30" name="Right Arrow 29"/>
          <p:cNvSpPr/>
          <p:nvPr/>
        </p:nvSpPr>
        <p:spPr>
          <a:xfrm>
            <a:off x="4114800" y="4937760"/>
            <a:ext cx="228600" cy="228600"/>
          </a:xfrm>
          <a:prstGeom prst="rightArrow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31" name="Rounded Rectangle 30"/>
          <p:cNvSpPr/>
          <p:nvPr/>
        </p:nvSpPr>
        <p:spPr>
          <a:xfrm>
            <a:off x="4343400" y="4023360"/>
            <a:ext cx="3337560" cy="2194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32" name="Rounded Rectangle 31"/>
          <p:cNvSpPr/>
          <p:nvPr/>
        </p:nvSpPr>
        <p:spPr>
          <a:xfrm>
            <a:off x="4480560" y="4187952"/>
            <a:ext cx="822960" cy="256032"/>
          </a:xfrm>
          <a:prstGeom prst="round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850" b="1">
                <a:solidFill>
                  <a:srgbClr val="1E3A8A"/>
                </a:solidFill>
              </a:defRPr>
            </a:pPr>
            <a:r>
              <a:rPr sz="1000"/>
              <a:t>Stage 6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675120" y="4187952"/>
            <a:ext cx="868680" cy="256032"/>
          </a:xfrm>
          <a:prstGeom prst="round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850" b="1">
                <a:solidFill>
                  <a:srgbClr val="0284C7"/>
                </a:solidFill>
              </a:defRPr>
            </a:pPr>
            <a:r>
              <a:rPr sz="1000"/>
              <a:t>90%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80560" y="4526280"/>
            <a:ext cx="306324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1E3A8A"/>
                </a:solidFill>
              </a:defRPr>
            </a:pPr>
            <a:r>
              <a:rPr sz="1200"/>
              <a:t>Concept Mind Map</a:t>
            </a:r>
          </a:p>
          <a:p>
            <a:pPr>
              <a:defRPr sz="1000">
                <a:solidFill>
                  <a:srgbClr val="1E293B"/>
                </a:solidFill>
              </a:defRPr>
            </a:pPr>
            <a:r>
              <a:rPr sz="1100"/>
              <a:t>Hierarchical concept graph synthesis, entity links</a:t>
            </a:r>
          </a:p>
        </p:txBody>
      </p:sp>
      <p:sp>
        <p:nvSpPr>
          <p:cNvPr id="35" name="Right Arrow 34"/>
          <p:cNvSpPr/>
          <p:nvPr/>
        </p:nvSpPr>
        <p:spPr>
          <a:xfrm>
            <a:off x="7726680" y="4937760"/>
            <a:ext cx="228600" cy="228600"/>
          </a:xfrm>
          <a:prstGeom prst="rightArrow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36" name="Rounded Rectangle 35"/>
          <p:cNvSpPr/>
          <p:nvPr/>
        </p:nvSpPr>
        <p:spPr>
          <a:xfrm>
            <a:off x="7955280" y="4023360"/>
            <a:ext cx="3337560" cy="2194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37" name="Rounded Rectangle 36"/>
          <p:cNvSpPr/>
          <p:nvPr/>
        </p:nvSpPr>
        <p:spPr>
          <a:xfrm>
            <a:off x="8092440" y="4187952"/>
            <a:ext cx="822960" cy="256032"/>
          </a:xfrm>
          <a:prstGeom prst="round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850" b="1">
                <a:solidFill>
                  <a:srgbClr val="1E3A8A"/>
                </a:solidFill>
              </a:defRPr>
            </a:pPr>
            <a:r>
              <a:rPr sz="1000"/>
              <a:t>Stage 7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287000" y="4187952"/>
            <a:ext cx="868680" cy="256032"/>
          </a:xfrm>
          <a:prstGeom prst="round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850" b="1">
                <a:solidFill>
                  <a:srgbClr val="10B981"/>
                </a:solidFill>
              </a:defRPr>
            </a:pPr>
            <a:r>
              <a:rPr sz="1000"/>
              <a:t>100%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092440" y="4526280"/>
            <a:ext cx="306324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1E3A8A"/>
                </a:solidFill>
              </a:defRPr>
            </a:pPr>
            <a:r>
              <a:rPr sz="1200"/>
              <a:t>Persistence &amp; 206</a:t>
            </a:r>
          </a:p>
          <a:p>
            <a:pPr>
              <a:defRPr sz="1000">
                <a:solidFill>
                  <a:srgbClr val="1E293B"/>
                </a:solidFill>
              </a:defRPr>
            </a:pPr>
            <a:r>
              <a:rPr sz="1100"/>
              <a:t>MongoDB document join, HTTP 206 stream ready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5156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284C7"/>
                </a:solidFill>
              </a:defRPr>
            </a:pPr>
            <a:r>
              <a:rPr sz="1100"/>
              <a:t>INFOSYS SPRINGBOARD • AI &amp; FULL-STACK CLOUD INTERNSHIP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5156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E3A8A"/>
                </a:solidFill>
              </a:defRPr>
            </a:pPr>
            <a:r>
              <a:rPr sz="2800"/>
              <a:t>6. Milestone-Wise Technical Implementation Roadmap (Weeks 1–8)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61872"/>
            <a:ext cx="10725912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242316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7" name="Rounded Rectangle 6"/>
          <p:cNvSpPr/>
          <p:nvPr/>
        </p:nvSpPr>
        <p:spPr>
          <a:xfrm>
            <a:off x="868680" y="1600200"/>
            <a:ext cx="1005840" cy="256032"/>
          </a:xfrm>
          <a:prstGeom prst="round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850" b="1">
                <a:solidFill>
                  <a:srgbClr val="0284C7"/>
                </a:solidFill>
              </a:defRPr>
            </a:pPr>
            <a:r>
              <a:rPr sz="1000"/>
              <a:t>Milestone 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011680" y="1600200"/>
            <a:ext cx="1005840" cy="256032"/>
          </a:xfrm>
          <a:prstGeom prst="round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800" b="1">
                <a:solidFill>
                  <a:srgbClr val="10B981"/>
                </a:solidFill>
              </a:defRPr>
            </a:pPr>
            <a:r>
              <a:rPr sz="1000"/>
              <a:t>PASSED 100%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1920240"/>
            <a:ext cx="2203704" cy="31239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284C7"/>
                </a:solidFill>
              </a:defRPr>
            </a:pPr>
            <a:r>
              <a:rPr sz="1400"/>
              <a:t>WEEKS 1 &amp; 2</a:t>
            </a:r>
          </a:p>
          <a:p>
            <a:pPr>
              <a:spcAft>
                <a:spcPts val="1000"/>
              </a:spcAft>
              <a:defRPr sz="1200" b="1">
                <a:solidFill>
                  <a:srgbClr val="1E3A8A"/>
                </a:solidFill>
              </a:defRPr>
            </a:pPr>
            <a:r>
              <a:rPr sz="1100"/>
              <a:t>Architecture, Auth &amp; Video Ingestion</a:t>
            </a:r>
          </a:p>
          <a:p>
            <a:pPr>
              <a:spcAft>
                <a:spcPts val="600"/>
              </a:spcAft>
              <a:defRPr sz="900">
                <a:solidFill>
                  <a:srgbClr val="1E293B"/>
                </a:solidFill>
              </a:defRPr>
            </a:pPr>
            <a:r>
              <a:rPr sz="1050"/>
              <a:t>• Decoupled React 19 &amp; FastAPI architecture.</a:t>
            </a:r>
          </a:p>
          <a:p>
            <a:pPr>
              <a:spcAft>
                <a:spcPts val="600"/>
              </a:spcAft>
              <a:defRPr sz="900">
                <a:solidFill>
                  <a:srgbClr val="1E293B"/>
                </a:solidFill>
              </a:defRPr>
            </a:pPr>
            <a:r>
              <a:rPr sz="1050"/>
              <a:t>• Polyglot persistence: SQLite/PostgreSQL + Atlas.</a:t>
            </a:r>
          </a:p>
          <a:p>
            <a:pPr>
              <a:spcAft>
                <a:spcPts val="600"/>
              </a:spcAft>
              <a:defRPr sz="900">
                <a:solidFill>
                  <a:srgbClr val="1E293B"/>
                </a:solidFill>
              </a:defRPr>
            </a:pPr>
            <a:r>
              <a:rPr sz="1050"/>
              <a:t>• Salted Bcrypt hashing (cost 12) &amp; JWT tokens.</a:t>
            </a:r>
          </a:p>
          <a:p>
            <a:pPr>
              <a:spcAft>
                <a:spcPts val="600"/>
              </a:spcAft>
              <a:defRPr sz="900">
                <a:solidFill>
                  <a:srgbClr val="1E293B"/>
                </a:solidFill>
              </a:defRPr>
            </a:pPr>
            <a:r>
              <a:rPr sz="1050"/>
              <a:t>• Chunked multipart upload handler (.mp4, .mov).</a:t>
            </a:r>
          </a:p>
          <a:p>
            <a:pPr>
              <a:spcAft>
                <a:spcPts val="600"/>
              </a:spcAft>
              <a:defRPr sz="900">
                <a:solidFill>
                  <a:srgbClr val="1E293B"/>
                </a:solidFill>
              </a:defRPr>
            </a:pPr>
            <a:r>
              <a:rPr sz="1050"/>
              <a:t>• yt-dlp YouTube video and audio extractor.</a:t>
            </a:r>
          </a:p>
          <a:p>
            <a:pPr>
              <a:spcAft>
                <a:spcPts val="600"/>
              </a:spcAft>
              <a:defRPr sz="900">
                <a:solidFill>
                  <a:srgbClr val="1E293B"/>
                </a:solidFill>
              </a:defRPr>
            </a:pPr>
            <a:r>
              <a:rPr sz="1050"/>
              <a:t>• FFmpeg 16kHz mono WAV audio demuxer.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200400" y="3657600"/>
            <a:ext cx="256032" cy="274320"/>
          </a:xfrm>
          <a:prstGeom prst="rightArrow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1" name="Rounded Rectangle 10"/>
          <p:cNvSpPr/>
          <p:nvPr/>
        </p:nvSpPr>
        <p:spPr>
          <a:xfrm>
            <a:off x="3502152" y="1463040"/>
            <a:ext cx="242316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2" name="Rounded Rectangle 11"/>
          <p:cNvSpPr/>
          <p:nvPr/>
        </p:nvSpPr>
        <p:spPr>
          <a:xfrm>
            <a:off x="3639312" y="1600200"/>
            <a:ext cx="1005840" cy="256032"/>
          </a:xfrm>
          <a:prstGeom prst="round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850" b="1">
                <a:solidFill>
                  <a:srgbClr val="1E3A8A"/>
                </a:solidFill>
              </a:defRPr>
            </a:pPr>
            <a:r>
              <a:rPr sz="1000"/>
              <a:t>Milestone 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782312" y="1600200"/>
            <a:ext cx="1005840" cy="256032"/>
          </a:xfrm>
          <a:prstGeom prst="round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800" b="1">
                <a:solidFill>
                  <a:srgbClr val="10B981"/>
                </a:solidFill>
              </a:defRPr>
            </a:pPr>
            <a:r>
              <a:rPr sz="1000"/>
              <a:t>PASSED 100%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11880" y="1920240"/>
            <a:ext cx="2203704" cy="31239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284C7"/>
                </a:solidFill>
              </a:defRPr>
            </a:pPr>
            <a:r>
              <a:rPr sz="1400"/>
              <a:t>WEEKS 3 &amp; 4</a:t>
            </a:r>
          </a:p>
          <a:p>
            <a:pPr>
              <a:spcAft>
                <a:spcPts val="1000"/>
              </a:spcAft>
              <a:defRPr sz="1200" b="1">
                <a:solidFill>
                  <a:srgbClr val="1E3A8A"/>
                </a:solidFill>
              </a:defRPr>
            </a:pPr>
            <a:r>
              <a:rPr sz="1100"/>
              <a:t>Speech-to-Text &amp; AI Summarization</a:t>
            </a:r>
          </a:p>
          <a:p>
            <a:pPr>
              <a:spcAft>
                <a:spcPts val="600"/>
              </a:spcAft>
              <a:defRPr sz="900">
                <a:solidFill>
                  <a:srgbClr val="1E293B"/>
                </a:solidFill>
              </a:defRPr>
            </a:pPr>
            <a:r>
              <a:rPr sz="1050"/>
              <a:t>• OpenAI Whisper ASR transformer model.</a:t>
            </a:r>
          </a:p>
          <a:p>
            <a:pPr>
              <a:spcAft>
                <a:spcPts val="600"/>
              </a:spcAft>
              <a:defRPr sz="900">
                <a:solidFill>
                  <a:srgbClr val="1E293B"/>
                </a:solidFill>
              </a:defRPr>
            </a:pPr>
            <a:r>
              <a:rPr sz="1050"/>
              <a:t>• Word-level timestamps &amp; segment indexation.</a:t>
            </a:r>
          </a:p>
          <a:p>
            <a:pPr>
              <a:spcAft>
                <a:spcPts val="600"/>
              </a:spcAft>
              <a:defRPr sz="900">
                <a:solidFill>
                  <a:srgbClr val="1E293B"/>
                </a:solidFill>
              </a:defRPr>
            </a:pPr>
            <a:r>
              <a:rPr sz="1050"/>
              <a:t>• LexRank graph centrality extractive TL;DR (&lt;1.5s).</a:t>
            </a:r>
          </a:p>
          <a:p>
            <a:pPr>
              <a:spcAft>
                <a:spcPts val="600"/>
              </a:spcAft>
              <a:defRPr sz="900">
                <a:solidFill>
                  <a:srgbClr val="1E293B"/>
                </a:solidFill>
              </a:defRPr>
            </a:pPr>
            <a:r>
              <a:rPr sz="1050"/>
              <a:t>• Abstractive LLM chapters and key takeaways.</a:t>
            </a:r>
          </a:p>
          <a:p>
            <a:pPr>
              <a:spcAft>
                <a:spcPts val="600"/>
              </a:spcAft>
              <a:defRPr sz="900">
                <a:solidFill>
                  <a:srgbClr val="1E293B"/>
                </a:solidFill>
              </a:defRPr>
            </a:pPr>
            <a:r>
              <a:rPr sz="1050"/>
              <a:t>• Interactive transcript viewer with click-to-seek.</a:t>
            </a:r>
          </a:p>
          <a:p>
            <a:pPr>
              <a:spcAft>
                <a:spcPts val="600"/>
              </a:spcAft>
              <a:defRPr sz="900">
                <a:solidFill>
                  <a:srgbClr val="1E293B"/>
                </a:solidFill>
              </a:defRPr>
            </a:pPr>
            <a:r>
              <a:rPr sz="1050"/>
              <a:t>• Verified 4.18% WER (95.82% speech accuracy).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5971032" y="3657600"/>
            <a:ext cx="256032" cy="274320"/>
          </a:xfrm>
          <a:prstGeom prst="rightArrow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6" name="Rounded Rectangle 15"/>
          <p:cNvSpPr/>
          <p:nvPr/>
        </p:nvSpPr>
        <p:spPr>
          <a:xfrm>
            <a:off x="6272783" y="1463040"/>
            <a:ext cx="242316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7" name="Rounded Rectangle 16"/>
          <p:cNvSpPr/>
          <p:nvPr/>
        </p:nvSpPr>
        <p:spPr>
          <a:xfrm>
            <a:off x="6409944" y="1600200"/>
            <a:ext cx="1005840" cy="256032"/>
          </a:xfrm>
          <a:prstGeom prst="round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850" b="1">
                <a:solidFill>
                  <a:srgbClr val="7C3AED"/>
                </a:solidFill>
              </a:defRPr>
            </a:pPr>
            <a:r>
              <a:rPr sz="1000"/>
              <a:t>Milestone 3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552944" y="1600200"/>
            <a:ext cx="1005840" cy="256032"/>
          </a:xfrm>
          <a:prstGeom prst="round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800" b="1">
                <a:solidFill>
                  <a:srgbClr val="10B981"/>
                </a:solidFill>
              </a:defRPr>
            </a:pPr>
            <a:r>
              <a:rPr sz="1000"/>
              <a:t>PASSED 100%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82512" y="1920240"/>
            <a:ext cx="2203704" cy="29546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284C7"/>
                </a:solidFill>
              </a:defRPr>
            </a:pPr>
            <a:r>
              <a:rPr sz="1400"/>
              <a:t>WEEKS 5 &amp; 6</a:t>
            </a:r>
          </a:p>
          <a:p>
            <a:pPr>
              <a:spcAft>
                <a:spcPts val="1000"/>
              </a:spcAft>
              <a:defRPr sz="1200" b="1">
                <a:solidFill>
                  <a:srgbClr val="1E3A8A"/>
                </a:solidFill>
              </a:defRPr>
            </a:pPr>
            <a:r>
              <a:rPr sz="1100"/>
              <a:t>Key Moments &amp; Educator Studio</a:t>
            </a:r>
          </a:p>
          <a:p>
            <a:pPr>
              <a:spcAft>
                <a:spcPts val="600"/>
              </a:spcAft>
              <a:defRPr sz="900">
                <a:solidFill>
                  <a:srgbClr val="1E293B"/>
                </a:solidFill>
              </a:defRPr>
            </a:pPr>
            <a:r>
              <a:rPr sz="1050"/>
              <a:t>• OpenCV 1 fps frame deltas &amp; HSV histograms.</a:t>
            </a:r>
          </a:p>
          <a:p>
            <a:pPr>
              <a:spcAft>
                <a:spcPts val="600"/>
              </a:spcAft>
              <a:defRPr sz="900">
                <a:solidFill>
                  <a:srgbClr val="1E293B"/>
                </a:solidFill>
              </a:defRPr>
            </a:pPr>
            <a:r>
              <a:rPr sz="1050"/>
              <a:t>• 5-Tab Educator Studio (Transcripts to Preview).</a:t>
            </a:r>
          </a:p>
          <a:p>
            <a:pPr>
              <a:spcAft>
                <a:spcPts val="600"/>
              </a:spcAft>
              <a:defRPr sz="900">
                <a:solidFill>
                  <a:srgbClr val="1E293B"/>
                </a:solidFill>
              </a:defRPr>
            </a:pPr>
            <a:r>
              <a:rPr sz="1050"/>
              <a:t>• Learner Study Room with auto-graded quizzes.</a:t>
            </a:r>
          </a:p>
          <a:p>
            <a:pPr>
              <a:spcAft>
                <a:spcPts val="600"/>
              </a:spcAft>
              <a:defRPr sz="900">
                <a:solidFill>
                  <a:srgbClr val="1E293B"/>
                </a:solidFill>
              </a:defRPr>
            </a:pPr>
            <a:r>
              <a:rPr sz="1050"/>
              <a:t>• 3D active recall flip flashcards with mastery.</a:t>
            </a:r>
          </a:p>
          <a:p>
            <a:pPr>
              <a:spcAft>
                <a:spcPts val="600"/>
              </a:spcAft>
              <a:defRPr sz="900">
                <a:solidFill>
                  <a:srgbClr val="1E293B"/>
                </a:solidFill>
              </a:defRPr>
            </a:pPr>
            <a:r>
              <a:rPr sz="1050"/>
              <a:t>• Multi-format document exporter (PDF, DOCX, etc.).</a:t>
            </a:r>
          </a:p>
          <a:p>
            <a:pPr>
              <a:spcAft>
                <a:spcPts val="600"/>
              </a:spcAft>
              <a:defRPr sz="900">
                <a:solidFill>
                  <a:srgbClr val="1E293B"/>
                </a:solidFill>
              </a:defRPr>
            </a:pPr>
            <a:r>
              <a:rPr sz="1050"/>
              <a:t>• Bidirectional WebSocket progress telemetry hub.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8741664" y="3657600"/>
            <a:ext cx="256032" cy="274320"/>
          </a:xfrm>
          <a:prstGeom prst="rightArrow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21" name="Rounded Rectangle 20"/>
          <p:cNvSpPr/>
          <p:nvPr/>
        </p:nvSpPr>
        <p:spPr>
          <a:xfrm>
            <a:off x="9043416" y="1463040"/>
            <a:ext cx="242316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22" name="Rounded Rectangle 21"/>
          <p:cNvSpPr/>
          <p:nvPr/>
        </p:nvSpPr>
        <p:spPr>
          <a:xfrm>
            <a:off x="9180576" y="1600200"/>
            <a:ext cx="1005840" cy="256032"/>
          </a:xfrm>
          <a:prstGeom prst="round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850" b="1">
                <a:solidFill>
                  <a:srgbClr val="10B981"/>
                </a:solidFill>
              </a:defRPr>
            </a:pPr>
            <a:r>
              <a:rPr sz="1000"/>
              <a:t>Milestone 4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323576" y="1600200"/>
            <a:ext cx="1005840" cy="256032"/>
          </a:xfrm>
          <a:prstGeom prst="round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800" b="1">
                <a:solidFill>
                  <a:srgbClr val="10B981"/>
                </a:solidFill>
              </a:defRPr>
            </a:pPr>
            <a:r>
              <a:rPr sz="1000"/>
              <a:t>PASSED 100%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53144" y="1920240"/>
            <a:ext cx="2203704" cy="31239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284C7"/>
                </a:solidFill>
              </a:defRPr>
            </a:pPr>
            <a:r>
              <a:rPr sz="1400"/>
              <a:t>WEEKS 7 &amp; 8</a:t>
            </a:r>
          </a:p>
          <a:p>
            <a:pPr>
              <a:spcAft>
                <a:spcPts val="1000"/>
              </a:spcAft>
              <a:defRPr sz="1200" b="1">
                <a:solidFill>
                  <a:srgbClr val="1E3A8A"/>
                </a:solidFill>
              </a:defRPr>
            </a:pPr>
            <a:r>
              <a:rPr sz="1100"/>
              <a:t>Zero-Loss Cloud &amp; Production Delivery</a:t>
            </a:r>
          </a:p>
          <a:p>
            <a:pPr>
              <a:spcAft>
                <a:spcPts val="600"/>
              </a:spcAft>
              <a:defRPr sz="900">
                <a:solidFill>
                  <a:srgbClr val="1E293B"/>
                </a:solidFill>
              </a:defRPr>
            </a:pPr>
            <a:r>
              <a:rPr sz="1050"/>
              <a:t>• Google Drive API v3 (15GB persistent cloud).</a:t>
            </a:r>
          </a:p>
          <a:p>
            <a:pPr>
              <a:spcAft>
                <a:spcPts val="600"/>
              </a:spcAft>
              <a:defRPr sz="900">
                <a:solidFill>
                  <a:srgbClr val="1E293B"/>
                </a:solidFill>
              </a:defRPr>
            </a:pPr>
            <a:r>
              <a:rPr sz="1050"/>
              <a:t>• HTTP 206 Partial Content range video proxy.</a:t>
            </a:r>
          </a:p>
          <a:p>
            <a:pPr>
              <a:spcAft>
                <a:spcPts val="600"/>
              </a:spcAft>
              <a:defRPr sz="900">
                <a:solidFill>
                  <a:srgbClr val="1E293B"/>
                </a:solidFill>
              </a:defRPr>
            </a:pPr>
            <a:r>
              <a:rPr sz="1050"/>
              <a:t>• Interactive AI Concept Mind Map canvas.</a:t>
            </a:r>
          </a:p>
          <a:p>
            <a:pPr>
              <a:spcAft>
                <a:spcPts val="600"/>
              </a:spcAft>
              <a:defRPr sz="900">
                <a:solidFill>
                  <a:srgbClr val="1E293B"/>
                </a:solidFill>
              </a:defRPr>
            </a:pPr>
            <a:r>
              <a:rPr sz="1050"/>
              <a:t>• Human-crafted dark/light engineering UI.</a:t>
            </a:r>
          </a:p>
          <a:p>
            <a:pPr>
              <a:spcAft>
                <a:spcPts val="600"/>
              </a:spcAft>
              <a:defRPr sz="900">
                <a:solidFill>
                  <a:srgbClr val="1E293B"/>
                </a:solidFill>
              </a:defRPr>
            </a:pPr>
            <a:r>
              <a:rPr sz="1050"/>
              <a:t>• Multi-stage Dockerfiles &amp; docker-compose.yml.</a:t>
            </a:r>
          </a:p>
          <a:p>
            <a:pPr>
              <a:spcAft>
                <a:spcPts val="600"/>
              </a:spcAft>
              <a:defRPr sz="900">
                <a:solidFill>
                  <a:srgbClr val="1E293B"/>
                </a:solidFill>
              </a:defRPr>
            </a:pPr>
            <a:r>
              <a:rPr sz="1050"/>
              <a:t>• 100% automated test suite pass rate.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4000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5156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284C7"/>
                </a:solidFill>
              </a:defRPr>
            </a:pPr>
            <a:r>
              <a:t>INFOSYS SPRINGBOARD • AI &amp; FULL-STACK CLOUD INTERNSHIP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5156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E3A8A"/>
                </a:solidFill>
              </a:defRPr>
            </a:pPr>
            <a:r>
              <a:rPr sz="2800" dirty="0"/>
              <a:t>7. Multi-Persona Role-Based Access Control (RBAC) &amp; Educator Studio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61872"/>
            <a:ext cx="10725912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4000"/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5212080" cy="2468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4000"/>
          </a:p>
        </p:txBody>
      </p:sp>
      <p:sp>
        <p:nvSpPr>
          <p:cNvPr id="7" name="TextBox 6"/>
          <p:cNvSpPr txBox="1"/>
          <p:nvPr/>
        </p:nvSpPr>
        <p:spPr>
          <a:xfrm>
            <a:off x="914400" y="1600200"/>
            <a:ext cx="4846320" cy="7232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1E3A8A"/>
                </a:solidFill>
              </a:defRPr>
            </a:pPr>
            <a:r>
              <a:t>Content Creator</a:t>
            </a:r>
          </a:p>
          <a:p>
            <a:pPr>
              <a:spcAft>
                <a:spcPts val="300"/>
              </a:spcAft>
              <a:defRPr sz="1050">
                <a:solidFill>
                  <a:srgbClr val="1E293B"/>
                </a:solidFill>
              </a:defRPr>
            </a:pPr>
            <a:r>
              <a:rPr sz="1100"/>
              <a:t>Uploads videos, ingests YouTube URLs, monitors AI pipeline, views analytics, and exports packages in PDF, DOCX, TXT, SRT, VTT.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463040"/>
            <a:ext cx="5212080" cy="2468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4000"/>
          </a:p>
        </p:txBody>
      </p:sp>
      <p:sp>
        <p:nvSpPr>
          <p:cNvPr id="9" name="TextBox 8"/>
          <p:cNvSpPr txBox="1"/>
          <p:nvPr/>
        </p:nvSpPr>
        <p:spPr>
          <a:xfrm>
            <a:off x="6400800" y="1600200"/>
            <a:ext cx="4846320" cy="7232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0284C7"/>
                </a:solidFill>
              </a:defRPr>
            </a:pPr>
            <a:r>
              <a:t>Learner</a:t>
            </a:r>
          </a:p>
          <a:p>
            <a:pPr>
              <a:spcAft>
                <a:spcPts val="300"/>
              </a:spcAft>
              <a:defRPr sz="1050">
                <a:solidFill>
                  <a:srgbClr val="1E293B"/>
                </a:solidFill>
              </a:defRPr>
            </a:pPr>
            <a:r>
              <a:rPr sz="1100"/>
              <a:t>Synchronized video player with auto-scrolling transcripts, click-to-seek, interactive auto-graded quizzes, and 3D flashcards.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840480"/>
            <a:ext cx="5212080" cy="2468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4000"/>
          </a:p>
        </p:txBody>
      </p:sp>
      <p:sp>
        <p:nvSpPr>
          <p:cNvPr id="11" name="TextBox 10"/>
          <p:cNvSpPr txBox="1"/>
          <p:nvPr/>
        </p:nvSpPr>
        <p:spPr>
          <a:xfrm>
            <a:off x="914400" y="3977640"/>
            <a:ext cx="4846320" cy="13773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7C3AED"/>
                </a:solidFill>
              </a:defRPr>
            </a:pPr>
            <a:r>
              <a:t>Educator (5-Tab Studio)</a:t>
            </a:r>
          </a:p>
          <a:p>
            <a:pPr>
              <a:spcAft>
                <a:spcPts val="300"/>
              </a:spcAft>
              <a:defRPr sz="1050">
                <a:solidFill>
                  <a:srgbClr val="1E293B"/>
                </a:solidFill>
              </a:defRPr>
            </a:pPr>
            <a:r>
              <a:rPr sz="1100"/>
              <a:t>Tab 1: Transcript Editor &amp; Diarization</a:t>
            </a:r>
          </a:p>
          <a:p>
            <a:pPr>
              <a:spcAft>
                <a:spcPts val="300"/>
              </a:spcAft>
              <a:defRPr sz="1050">
                <a:solidFill>
                  <a:srgbClr val="1E293B"/>
                </a:solidFill>
              </a:defRPr>
            </a:pPr>
            <a:r>
              <a:rPr sz="1100"/>
              <a:t>Tab 2: Curriculum Chapters &amp; Time Bounds</a:t>
            </a:r>
          </a:p>
          <a:p>
            <a:pPr>
              <a:spcAft>
                <a:spcPts val="300"/>
              </a:spcAft>
              <a:defRPr sz="1050">
                <a:solidFill>
                  <a:srgbClr val="1E293B"/>
                </a:solidFill>
              </a:defRPr>
            </a:pPr>
            <a:r>
              <a:rPr sz="1100"/>
              <a:t>Tab 3: Interactive Quiz Authoring</a:t>
            </a:r>
          </a:p>
          <a:p>
            <a:pPr>
              <a:spcAft>
                <a:spcPts val="300"/>
              </a:spcAft>
              <a:defRPr sz="1050">
                <a:solidFill>
                  <a:srgbClr val="1E293B"/>
                </a:solidFill>
              </a:defRPr>
            </a:pPr>
            <a:r>
              <a:rPr sz="1100"/>
              <a:t>Tab 4: Flashcard Decks</a:t>
            </a:r>
          </a:p>
          <a:p>
            <a:pPr>
              <a:spcAft>
                <a:spcPts val="300"/>
              </a:spcAft>
              <a:defRPr sz="1050">
                <a:solidFill>
                  <a:srgbClr val="1E293B"/>
                </a:solidFill>
              </a:defRPr>
            </a:pPr>
            <a:r>
              <a:rPr sz="1100"/>
              <a:t>Tab 5: Live Student Preview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3840480"/>
            <a:ext cx="5212080" cy="2468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4000"/>
          </a:p>
        </p:txBody>
      </p:sp>
      <p:sp>
        <p:nvSpPr>
          <p:cNvPr id="13" name="TextBox 12"/>
          <p:cNvSpPr txBox="1"/>
          <p:nvPr/>
        </p:nvSpPr>
        <p:spPr>
          <a:xfrm>
            <a:off x="6400800" y="3977640"/>
            <a:ext cx="4846320" cy="7232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1E293B"/>
                </a:solidFill>
              </a:defRPr>
            </a:pPr>
            <a:r>
              <a:t>Administrator</a:t>
            </a:r>
          </a:p>
          <a:p>
            <a:pPr>
              <a:spcAft>
                <a:spcPts val="300"/>
              </a:spcAft>
              <a:defRPr sz="1050">
                <a:solidFill>
                  <a:srgbClr val="1E293B"/>
                </a:solidFill>
              </a:defRPr>
            </a:pPr>
            <a:r>
              <a:rPr sz="1100"/>
              <a:t>Complete user governance, RBAC reassignment, real-time telemetry, 50+ event system audit warehouse, and 1-click cache purges.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284C7"/>
                </a:solidFill>
              </a:defRPr>
            </a:pPr>
            <a:r>
              <a:t>INFOSYS SPRINGBOARD • AI &amp; FULL-STACK CLOUD INTERNSHIP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E3A8A"/>
                </a:solidFill>
              </a:defRPr>
            </a:pPr>
            <a:r>
              <a:t>8. Quantitative Benchmarks, Telemetry &amp; Performance Evaluation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61872"/>
            <a:ext cx="10725912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3410712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68680" y="1600200"/>
            <a:ext cx="313639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2800" b="1">
                <a:solidFill>
                  <a:srgbClr val="10B981"/>
                </a:solidFill>
              </a:defRPr>
            </a:pPr>
            <a:r>
              <a:t>4.18%</a:t>
            </a:r>
          </a:p>
          <a:p>
            <a:pPr>
              <a:spcAft>
                <a:spcPts val="400"/>
              </a:spcAft>
              <a:defRPr sz="1200" b="1">
                <a:solidFill>
                  <a:srgbClr val="1E293B"/>
                </a:solidFill>
              </a:defRPr>
            </a:pPr>
            <a:r>
              <a:t>Word Error Rate (WER)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Whisper STT achieves 95.82% transcription accuracy across studio and classroom lectures.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463040"/>
            <a:ext cx="3410712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26280" y="1600200"/>
            <a:ext cx="313639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2800" b="1">
                <a:solidFill>
                  <a:srgbClr val="1E3A8A"/>
                </a:solidFill>
              </a:defRPr>
            </a:pPr>
            <a:r>
              <a:t>46.8%</a:t>
            </a:r>
          </a:p>
          <a:p>
            <a:pPr>
              <a:spcAft>
                <a:spcPts val="400"/>
              </a:spcAft>
              <a:defRPr sz="1200" b="1">
                <a:solidFill>
                  <a:srgbClr val="1E293B"/>
                </a:solidFill>
              </a:defRPr>
            </a:pPr>
            <a:r>
              <a:t>ROUGE-1 Summarization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High unigram overlap with human lecture notes; ROUGE-L at 42.1% capturing structural flow.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463040"/>
            <a:ext cx="3410712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183880" y="1600200"/>
            <a:ext cx="313639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2800" b="1">
                <a:solidFill>
                  <a:srgbClr val="0284C7"/>
                </a:solidFill>
              </a:defRPr>
            </a:pPr>
            <a:r>
              <a:t>92.4%</a:t>
            </a:r>
          </a:p>
          <a:p>
            <a:pPr>
              <a:spcAft>
                <a:spcPts val="400"/>
              </a:spcAft>
              <a:defRPr sz="1200" b="1">
                <a:solidFill>
                  <a:srgbClr val="1E293B"/>
                </a:solidFill>
              </a:defRPr>
            </a:pPr>
            <a:r>
              <a:t>CV Slide Precision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OpenCV frame differencing accurately pinpoints visual presentation transitions at 1 fps.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931920"/>
            <a:ext cx="3410712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68680" y="4069080"/>
            <a:ext cx="313639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2800" b="1">
                <a:solidFill>
                  <a:srgbClr val="1E3A8A"/>
                </a:solidFill>
              </a:defRPr>
            </a:pPr>
            <a:r>
              <a:t>2.6x</a:t>
            </a:r>
          </a:p>
          <a:p>
            <a:pPr>
              <a:spcAft>
                <a:spcPts val="400"/>
              </a:spcAft>
              <a:defRPr sz="1200" b="1">
                <a:solidFill>
                  <a:srgbClr val="1E293B"/>
                </a:solidFill>
              </a:defRPr>
            </a:pPr>
            <a:r>
              <a:t>Real-Time Speedup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Processes a 60-minute video in just 2.6 minutes across all 7 pipeline stages.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89120" y="3931920"/>
            <a:ext cx="3410712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526280" y="4069080"/>
            <a:ext cx="313639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2800" b="1">
                <a:solidFill>
                  <a:srgbClr val="10B981"/>
                </a:solidFill>
              </a:defRPr>
            </a:pPr>
            <a:r>
              <a:t>&lt; 20ms</a:t>
            </a:r>
          </a:p>
          <a:p>
            <a:pPr>
              <a:spcAft>
                <a:spcPts val="400"/>
              </a:spcAft>
              <a:defRPr sz="1200" b="1">
                <a:solidFill>
                  <a:srgbClr val="1E293B"/>
                </a:solidFill>
              </a:defRPr>
            </a:pPr>
            <a:r>
              <a:t>Streaming Seek Latency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HTTP 206 range proxy delivers instant chunk delivery from disk or Google Drive.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6720" y="3931920"/>
            <a:ext cx="3410712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183880" y="4069080"/>
            <a:ext cx="313639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2800" b="1">
                <a:solidFill>
                  <a:srgbClr val="7C3AED"/>
                </a:solidFill>
              </a:defRPr>
            </a:pPr>
            <a:r>
              <a:t>100%</a:t>
            </a:r>
          </a:p>
          <a:p>
            <a:pPr>
              <a:spcAft>
                <a:spcPts val="400"/>
              </a:spcAft>
              <a:defRPr sz="1200" b="1">
                <a:solidFill>
                  <a:srgbClr val="1E293B"/>
                </a:solidFill>
              </a:defRPr>
            </a:pPr>
            <a:r>
              <a:t>Verification Test Suite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Full end-to-end verification across auth, RBAC, uploads, persistence, and cascading deletion.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5156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284C7"/>
                </a:solidFill>
              </a:defRPr>
            </a:pPr>
            <a:r>
              <a:rPr sz="1100"/>
              <a:t>INFOSYS SPRINGBOARD • AI &amp; FULL-STACK CLOUD INTERNSHIP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5156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E3A8A"/>
                </a:solidFill>
              </a:defRPr>
            </a:pPr>
            <a:r>
              <a:rPr sz="2800"/>
              <a:t>9. Conclusion, Technical Stack &amp; Operational Readiness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61872"/>
            <a:ext cx="10725912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502920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7" name="TextBox 6"/>
          <p:cNvSpPr txBox="1"/>
          <p:nvPr/>
        </p:nvSpPr>
        <p:spPr>
          <a:xfrm>
            <a:off x="914400" y="1645920"/>
            <a:ext cx="4663440" cy="35907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 b="1">
                <a:solidFill>
                  <a:srgbClr val="1E3A8A"/>
                </a:solidFill>
              </a:defRPr>
            </a:pPr>
            <a:r>
              <a:t>Key Accomplishments</a:t>
            </a:r>
          </a:p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</a:defRPr>
            </a:pPr>
            <a:r>
              <a:rPr sz="1400"/>
              <a:t>- 100% Compliance with Infosys Springboard Project Specification.</a:t>
            </a:r>
          </a:p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</a:defRPr>
            </a:pPr>
            <a:r>
              <a:rPr sz="1400"/>
              <a:t>- Production-Grade Full-Stack: React 19 + FastAPI + Polyglot DB.</a:t>
            </a:r>
          </a:p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</a:defRPr>
            </a:pPr>
            <a:r>
              <a:rPr sz="1400"/>
              <a:t>- Zero-Loss Cloud: 15GB persistent Google Drive storage with HTTP 206 range proxy.</a:t>
            </a:r>
          </a:p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</a:defRPr>
            </a:pPr>
            <a:r>
              <a:rPr sz="1400"/>
              <a:t>- Multimodal AI: Whisper STT, LexRank + LLMs, OpenCV scene cut detection.</a:t>
            </a:r>
          </a:p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</a:defRPr>
            </a:pPr>
            <a:r>
              <a:rPr sz="1400"/>
              <a:t>- Bespoke UI Design: Human-crafted dark/light engineering UI with zero AI-generic vibe.</a:t>
            </a:r>
          </a:p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</a:defRPr>
            </a:pPr>
            <a:r>
              <a:rPr sz="1400"/>
              <a:t>- Unified Docker Containerization: Tested &amp; ready for production deployment.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1463040"/>
            <a:ext cx="502920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9" name="TextBox 8"/>
          <p:cNvSpPr txBox="1"/>
          <p:nvPr/>
        </p:nvSpPr>
        <p:spPr>
          <a:xfrm>
            <a:off x="6583680" y="1645920"/>
            <a:ext cx="4663440" cy="27186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 b="1">
                <a:solidFill>
                  <a:srgbClr val="0284C7"/>
                </a:solidFill>
              </a:defRPr>
            </a:pPr>
            <a:r>
              <a:t>Production Technology Stack</a:t>
            </a:r>
          </a:p>
          <a:p>
            <a:pPr>
              <a:spcAft>
                <a:spcPts val="400"/>
              </a:spcAft>
              <a:defRPr sz="1050" b="1">
                <a:solidFill>
                  <a:srgbClr val="1E3A8A"/>
                </a:solidFill>
              </a:defRPr>
            </a:pPr>
            <a:r>
              <a:rPr sz="1200"/>
              <a:t>• Frontend Client: </a:t>
            </a:r>
            <a:r>
              <a:rPr sz="1100" b="0">
                <a:solidFill>
                  <a:srgbClr val="64748B"/>
                </a:solidFill>
              </a:rPr>
              <a:t>React 19, TypeScript 5.5, Vite 8.2, Tailwind CSS</a:t>
            </a:r>
          </a:p>
          <a:p>
            <a:pPr>
              <a:spcAft>
                <a:spcPts val="400"/>
              </a:spcAft>
              <a:defRPr sz="1050" b="1">
                <a:solidFill>
                  <a:srgbClr val="1E3A8A"/>
                </a:solidFill>
              </a:defRPr>
            </a:pPr>
            <a:r>
              <a:rPr sz="1200"/>
              <a:t>• API Gateway: </a:t>
            </a:r>
            <a:r>
              <a:rPr sz="1100" b="0">
                <a:solidFill>
                  <a:srgbClr val="64748B"/>
                </a:solidFill>
              </a:rPr>
              <a:t>FastAPI (Python 3.12), Uvicorn ASGI, Pydantic v2</a:t>
            </a:r>
          </a:p>
          <a:p>
            <a:pPr>
              <a:spcAft>
                <a:spcPts val="400"/>
              </a:spcAft>
              <a:defRPr sz="1050" b="1">
                <a:solidFill>
                  <a:srgbClr val="1E3A8A"/>
                </a:solidFill>
              </a:defRPr>
            </a:pPr>
            <a:r>
              <a:rPr sz="1200"/>
              <a:t>• Auth &amp; Security: </a:t>
            </a:r>
            <a:r>
              <a:rPr sz="1100" b="0">
                <a:solidFill>
                  <a:srgbClr val="64748B"/>
                </a:solidFill>
              </a:rPr>
              <a:t>OAuth2 JWT, Bcrypt hashing, Google Identity Services</a:t>
            </a:r>
          </a:p>
          <a:p>
            <a:pPr>
              <a:spcAft>
                <a:spcPts val="400"/>
              </a:spcAft>
              <a:defRPr sz="1050" b="1">
                <a:solidFill>
                  <a:srgbClr val="1E3A8A"/>
                </a:solidFill>
              </a:defRPr>
            </a:pPr>
            <a:r>
              <a:rPr sz="1200"/>
              <a:t>• Polyglot Database: </a:t>
            </a:r>
            <a:r>
              <a:rPr sz="1100" b="0">
                <a:solidFill>
                  <a:srgbClr val="64748B"/>
                </a:solidFill>
              </a:rPr>
              <a:t>SQLite / PostgreSQL (ACID) + MongoDB Atlas (Beanie ODM)</a:t>
            </a:r>
          </a:p>
          <a:p>
            <a:pPr>
              <a:spcAft>
                <a:spcPts val="400"/>
              </a:spcAft>
              <a:defRPr sz="1050" b="1">
                <a:solidFill>
                  <a:srgbClr val="1E3A8A"/>
                </a:solidFill>
              </a:defRPr>
            </a:pPr>
            <a:r>
              <a:rPr sz="1200"/>
              <a:t>• Cloud Storage: </a:t>
            </a:r>
            <a:r>
              <a:rPr sz="1100" b="0">
                <a:solidFill>
                  <a:srgbClr val="64748B"/>
                </a:solidFill>
              </a:rPr>
              <a:t>Google Drive REST API v3 (15GB Persistent Store)</a:t>
            </a:r>
          </a:p>
          <a:p>
            <a:pPr>
              <a:spcAft>
                <a:spcPts val="400"/>
              </a:spcAft>
              <a:defRPr sz="1050" b="1">
                <a:solidFill>
                  <a:srgbClr val="1E3A8A"/>
                </a:solidFill>
              </a:defRPr>
            </a:pPr>
            <a:r>
              <a:rPr sz="1200"/>
              <a:t>• AI &amp; CV Models: </a:t>
            </a:r>
            <a:r>
              <a:rPr sz="1100" b="0">
                <a:solidFill>
                  <a:srgbClr val="64748B"/>
                </a:solidFill>
              </a:rPr>
              <a:t>OpenAI Whisper ASR, LexRank, LLM APIs, OpenCV 4.9</a:t>
            </a:r>
          </a:p>
          <a:p>
            <a:pPr>
              <a:spcAft>
                <a:spcPts val="400"/>
              </a:spcAft>
              <a:defRPr sz="1050" b="1">
                <a:solidFill>
                  <a:srgbClr val="1E3A8A"/>
                </a:solidFill>
              </a:defRPr>
            </a:pPr>
            <a:r>
              <a:rPr sz="1200"/>
              <a:t>• Media Extraction: </a:t>
            </a:r>
            <a:r>
              <a:rPr sz="1100" b="0">
                <a:solidFill>
                  <a:srgbClr val="64748B"/>
                </a:solidFill>
              </a:rPr>
              <a:t>FFmpeg 6.1 (16kHz Mono WAV), yt-dlp 2024</a:t>
            </a:r>
          </a:p>
          <a:p>
            <a:pPr>
              <a:spcAft>
                <a:spcPts val="400"/>
              </a:spcAft>
              <a:defRPr sz="1050" b="1">
                <a:solidFill>
                  <a:srgbClr val="1E3A8A"/>
                </a:solidFill>
              </a:defRPr>
            </a:pPr>
            <a:r>
              <a:rPr sz="1200"/>
              <a:t>• Document Exports: </a:t>
            </a:r>
            <a:r>
              <a:rPr sz="1100" b="0">
                <a:solidFill>
                  <a:srgbClr val="64748B"/>
                </a:solidFill>
              </a:rPr>
              <a:t>ReportLab 4.1 (PDF), python-docx 1.1 (Word), SRT, VTT</a:t>
            </a:r>
          </a:p>
          <a:p>
            <a:pPr>
              <a:spcAft>
                <a:spcPts val="400"/>
              </a:spcAft>
              <a:defRPr sz="1050" b="1">
                <a:solidFill>
                  <a:srgbClr val="1E3A8A"/>
                </a:solidFill>
              </a:defRPr>
            </a:pPr>
            <a:r>
              <a:rPr sz="1200"/>
              <a:t>• DevOps / Deploy: </a:t>
            </a:r>
            <a:r>
              <a:rPr sz="1100" b="0">
                <a:solidFill>
                  <a:srgbClr val="64748B"/>
                </a:solidFill>
              </a:rPr>
              <a:t>Docker Multi-Stage, Docker Compose, Render Blueprint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1879</Words>
  <Application>Microsoft Office PowerPoint</Application>
  <PresentationFormat>Widescreen</PresentationFormat>
  <Paragraphs>227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Adabala Venkata Thrinadh</cp:lastModifiedBy>
  <cp:revision>3</cp:revision>
  <dcterms:created xsi:type="dcterms:W3CDTF">2013-01-27T09:14:16Z</dcterms:created>
  <dcterms:modified xsi:type="dcterms:W3CDTF">2026-09-16T13:59:17Z</dcterms:modified>
  <cp:category/>
</cp:coreProperties>
</file>